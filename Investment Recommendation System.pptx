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project ranks 28 Nifty 50 stocks by risk and return, then labels each one Buy, Hold or Sell with a reason. The panel on the right is the result as of 16 October 2026: 7 Buy, 12 Hold and 9 Sell. I will show how the data was prepared, how the scores work, what the results say, and then the live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five steps, and each one is a notebook or a script in the GitHub repo. We collect five years of prices, clean them, score every stock, convert the scores to recommendations, and show everything in a dashboard. The next slides go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covers 28 Nifty 50 stocks in 8 sectors, plus the Nifty 50 index as a benchmark. It comes from Yahoo Finance through the yfinance library. Cleaning removed 57 placeholder rows with no recorded trading, and we kept only the 1,233 days on which every stock traded, so all comparisons are like for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recommendation comes from two scores. The risk score blends volatility, the worst fall from a peak, and beta, so it says how bumpy the ride has been. The total score rewards return for the risk taken, safety, trend and recent momentum. Above 60 is a Buy, below 35 a Sell, and the middle is a Hold. The weights are judgement calls, and risk levels are relative to these 28 stocks.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outcome. Seven stocks are a Buy, led by ICICI Bank, Bharti Airtel and Sun Pharma. Twelve are a Hold, and nine are a Sell, including the large IT names TCS, Infosys and Wipro, and also ITC, ONGC and Reliance. These labels reflect the past five years of prices, not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stock. Left means lower risk, higher means more annual return. The best place to be is top left. Bharti Airtel, Sun Pharma and ICICI Bank earned between 14 and 24 percent a year with risk scores under 20. Bajaj Auto earned the most but with a much higher risk score. The dashed line is the Nifty 50 at 4.6 percent a year, and most stocks beat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Buy stocks. Five of the seven carry a Low risk level. ICICI Bank leads with a score of 80.6, helped by being in an uptrend. Kotak Bank is the interesting case: its five-year return is only 2.3 percent a year, but it is in an uptrend with strong recent momentum, so the score lifts it above the Buy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out to the market. Only ICICI Bank and Kotak Bank are in an uptrend, 13 stocks are moving sideways and 13 are in a downtrend. The Nifty 50 is down about 11 percent so far in 2026 after four good years, and 21 of the 28 stocks fell over the last six months. By sector, Pharma and Banking score best on average, while IT and Metals score worst.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what 100 rupees would have become over five years. The seven Low-risk stocks grew to about 172, all 28 stocks to about 163, and the Nifty 50 to about 125. The Low-risk group also had a slightly lower maximum fall. A caution: the 28 stocks are today's index members, which flatters the result, and this is in-sample, so it is not a forecast. Stock prices include dividends while the Nifty line is price-only.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dashboard. It has five pages. Overview shows all recommendations. Stock Explorer shows one stock in detail. Compare Stocks puts several side by side. Portfolio Builder lets you pick stocks and see the combined return and risk. Risk vs Return plots every stock. Open the live link and click through each page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honest limits. The 28 stocks are today's index members, so the results flatter the market through survivorship bias. Everything is measured on the same data used to build it, over a short window, and it uses price history only. The weights are judgement calls. For next steps: all 50 stocks, fundamentals, out-of-sample testing, and adjustable weights in the dashboard. This is a learning project and not financial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project. To recap: 28 stocks, a transparent score, 7 Buy, 12 Hold and 9 Sell, and a live dashboard anyone can use.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9525000" cy="61341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31010"/>
            <a:ext cx="10566400" cy="431419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9525000" cy="613410"/>
          </a:xfrm>
          <a:prstGeom prst="rect">
            <a:avLst/>
          </a:prstGeom>
          <a:noFill/>
          <a:ln/>
        </p:spPr>
        <p:txBody>
          <a:bodyPr wrap="square" lIns="0" tIns="0" rIns="0" bIns="0" rtlCol="0" anchor="t"/>
          <a:lstStyle>
            <a:lvl1pPr algn="l" indent="0" marL="0">
              <a:lnSpc>
                <a:spcPct val="115000"/>
              </a:lnSpc>
              <a:buNone/>
              <a:defRPr lang="en-US" sz="2800" dirty="0">
                <a:solidFill>
                  <a:srgbClr val="14213D"/>
                </a:solidFill>
                <a:latin typeface="Inter" pitchFamily="34" charset="0"/>
                <a:ea typeface="Inter" pitchFamily="34" charset="-122"/>
                <a:cs typeface="Inter"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31010"/>
            <a:ext cx="10566400" cy="4314190"/>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7162800" y="812800"/>
            <a:ext cx="4216400" cy="5232400"/>
          </a:xfrm>
          <a:prstGeom prst="roundRect">
            <a:avLst>
              <a:gd name="adj" fmla="val 4819"/>
            </a:avLst>
          </a:prstGeom>
          <a:solidFill>
            <a:srgbClr val="E6EEFB"/>
          </a:solidFill>
          <a:ln/>
        </p:spPr>
      </p:sp>
      <p:sp>
        <p:nvSpPr>
          <p:cNvPr id="3" name="Text 1"/>
          <p:cNvSpPr/>
          <p:nvPr/>
        </p:nvSpPr>
        <p:spPr>
          <a:xfrm>
            <a:off x="7569200" y="1798320"/>
            <a:ext cx="35057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nter" pitchFamily="34" charset="0"/>
                <a:ea typeface="Inter" pitchFamily="34" charset="-122"/>
                <a:cs typeface="Inter" pitchFamily="34" charset="-120"/>
              </a:rPr>
              <a:t>AS OF 16 OCT 2026</a:t>
            </a:r>
            <a:endParaRPr lang="en-US" sz="1200" dirty="0"/>
          </a:p>
        </p:txBody>
      </p:sp>
      <p:sp>
        <p:nvSpPr>
          <p:cNvPr id="4" name="Text 2"/>
          <p:cNvSpPr/>
          <p:nvPr/>
        </p:nvSpPr>
        <p:spPr>
          <a:xfrm>
            <a:off x="7569200" y="2265680"/>
            <a:ext cx="151130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2A78D6"/>
                </a:solidFill>
                <a:latin typeface="Inter" pitchFamily="34" charset="0"/>
                <a:ea typeface="Inter" pitchFamily="34" charset="-122"/>
                <a:cs typeface="Inter" pitchFamily="34" charset="-120"/>
              </a:rPr>
              <a:t>7</a:t>
            </a:r>
            <a:endParaRPr lang="en-US" sz="6000" dirty="0"/>
          </a:p>
        </p:txBody>
      </p:sp>
      <p:sp>
        <p:nvSpPr>
          <p:cNvPr id="5" name="Text 3"/>
          <p:cNvSpPr/>
          <p:nvPr/>
        </p:nvSpPr>
        <p:spPr>
          <a:xfrm>
            <a:off x="9182100" y="2626360"/>
            <a:ext cx="62360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nter" pitchFamily="34" charset="0"/>
                <a:ea typeface="Inter" pitchFamily="34" charset="-122"/>
                <a:cs typeface="Inter" pitchFamily="34" charset="-120"/>
              </a:rPr>
              <a:t>Buy</a:t>
            </a:r>
            <a:endParaRPr lang="en-US" sz="2200" dirty="0"/>
          </a:p>
        </p:txBody>
      </p:sp>
      <p:sp>
        <p:nvSpPr>
          <p:cNvPr id="6" name="Text 4"/>
          <p:cNvSpPr/>
          <p:nvPr/>
        </p:nvSpPr>
        <p:spPr>
          <a:xfrm>
            <a:off x="7569200" y="3281680"/>
            <a:ext cx="151130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6F6D68"/>
                </a:solidFill>
                <a:latin typeface="Inter" pitchFamily="34" charset="0"/>
                <a:ea typeface="Inter" pitchFamily="34" charset="-122"/>
                <a:cs typeface="Inter" pitchFamily="34" charset="-120"/>
              </a:rPr>
              <a:t>12</a:t>
            </a:r>
            <a:endParaRPr lang="en-US" sz="6000" dirty="0"/>
          </a:p>
        </p:txBody>
      </p:sp>
      <p:sp>
        <p:nvSpPr>
          <p:cNvPr id="7" name="Text 5"/>
          <p:cNvSpPr/>
          <p:nvPr/>
        </p:nvSpPr>
        <p:spPr>
          <a:xfrm>
            <a:off x="9182100" y="3642360"/>
            <a:ext cx="75114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nter" pitchFamily="34" charset="0"/>
                <a:ea typeface="Inter" pitchFamily="34" charset="-122"/>
                <a:cs typeface="Inter" pitchFamily="34" charset="-120"/>
              </a:rPr>
              <a:t>Hold</a:t>
            </a:r>
            <a:endParaRPr lang="en-US" sz="2200" dirty="0"/>
          </a:p>
        </p:txBody>
      </p:sp>
      <p:sp>
        <p:nvSpPr>
          <p:cNvPr id="8" name="Text 6"/>
          <p:cNvSpPr/>
          <p:nvPr/>
        </p:nvSpPr>
        <p:spPr>
          <a:xfrm>
            <a:off x="7569200" y="4297680"/>
            <a:ext cx="151130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D03B3B"/>
                </a:solidFill>
                <a:latin typeface="Inter" pitchFamily="34" charset="0"/>
                <a:ea typeface="Inter" pitchFamily="34" charset="-122"/>
                <a:cs typeface="Inter" pitchFamily="34" charset="-120"/>
              </a:rPr>
              <a:t>9</a:t>
            </a:r>
            <a:endParaRPr lang="en-US" sz="6000" dirty="0"/>
          </a:p>
        </p:txBody>
      </p:sp>
      <p:sp>
        <p:nvSpPr>
          <p:cNvPr id="9" name="Text 7"/>
          <p:cNvSpPr/>
          <p:nvPr/>
        </p:nvSpPr>
        <p:spPr>
          <a:xfrm>
            <a:off x="9182100" y="4658360"/>
            <a:ext cx="59188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4213D"/>
                </a:solidFill>
                <a:latin typeface="Inter" pitchFamily="34" charset="0"/>
                <a:ea typeface="Inter" pitchFamily="34" charset="-122"/>
                <a:cs typeface="Inter" pitchFamily="34" charset="-120"/>
              </a:rPr>
              <a:t>Sell</a:t>
            </a:r>
            <a:endParaRPr lang="en-US" sz="2200" dirty="0"/>
          </a:p>
        </p:txBody>
      </p:sp>
      <p:sp>
        <p:nvSpPr>
          <p:cNvPr id="10" name="Text 8"/>
          <p:cNvSpPr/>
          <p:nvPr/>
        </p:nvSpPr>
        <p:spPr>
          <a:xfrm>
            <a:off x="812800" y="1816100"/>
            <a:ext cx="588645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nter" pitchFamily="34" charset="0"/>
                <a:ea typeface="Inter" pitchFamily="34" charset="-122"/>
                <a:cs typeface="Inter" pitchFamily="34" charset="-120"/>
              </a:rPr>
              <a:t>SKILLORBIT CAPSTONE · INVESTMENT BANKING WITH FINANCE</a:t>
            </a:r>
            <a:endParaRPr lang="en-US" sz="1200" dirty="0"/>
          </a:p>
        </p:txBody>
      </p:sp>
      <p:sp>
        <p:nvSpPr>
          <p:cNvPr id="11" name="Text 9"/>
          <p:cNvSpPr/>
          <p:nvPr>
            <p:ph type="title"/>
          </p:nvPr>
        </p:nvSpPr>
        <p:spPr>
          <a:xfrm>
            <a:off x="812800" y="2232660"/>
            <a:ext cx="5886450" cy="194564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4213D"/>
                </a:solidFill>
                <a:latin typeface="Inter" pitchFamily="34" charset="0"/>
                <a:ea typeface="Inter" pitchFamily="34" charset="-122"/>
                <a:cs typeface="Inter" pitchFamily="34" charset="-120"/>
              </a:rPr>
              <a:t>Investment Recommendation System</a:t>
            </a:r>
            <a:endParaRPr lang="en-US" sz="4800" dirty="0"/>
          </a:p>
        </p:txBody>
      </p:sp>
      <p:sp>
        <p:nvSpPr>
          <p:cNvPr id="12" name="Text 10"/>
          <p:cNvSpPr/>
          <p:nvPr/>
        </p:nvSpPr>
        <p:spPr>
          <a:xfrm>
            <a:off x="812800" y="4356100"/>
            <a:ext cx="588645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4A5568"/>
                </a:solidFill>
                <a:latin typeface="Inter" pitchFamily="34" charset="0"/>
                <a:ea typeface="Inter" pitchFamily="34" charset="-122"/>
                <a:cs typeface="Inter" pitchFamily="34" charset="-120"/>
              </a:rPr>
              <a:t>Ranking 28 Nifty 50 stocks by risk and return, and labelling each one Buy, Hold or Sell.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156700"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Five steps from raw prices to a clear Buy, Hold or Sell</a:t>
            </a:r>
            <a:endParaRPr lang="en-US" sz="2800" dirty="0"/>
          </a:p>
        </p:txBody>
      </p:sp>
      <p:sp>
        <p:nvSpPr>
          <p:cNvPr id="3" name="Shape 1"/>
          <p:cNvSpPr/>
          <p:nvPr/>
        </p:nvSpPr>
        <p:spPr>
          <a:xfrm>
            <a:off x="819150" y="1992630"/>
            <a:ext cx="1978660" cy="3843020"/>
          </a:xfrm>
          <a:prstGeom prst="roundRect">
            <a:avLst>
              <a:gd name="adj" fmla="val 7381"/>
            </a:avLst>
          </a:prstGeom>
          <a:solidFill>
            <a:srgbClr val="FFFFFF"/>
          </a:solidFill>
          <a:ln w="12700">
            <a:solidFill>
              <a:srgbClr val="E3E6EE"/>
            </a:solidFill>
            <a:prstDash val="solid"/>
          </a:ln>
        </p:spPr>
      </p:sp>
      <p:sp>
        <p:nvSpPr>
          <p:cNvPr id="4" name="Text 2"/>
          <p:cNvSpPr/>
          <p:nvPr/>
        </p:nvSpPr>
        <p:spPr>
          <a:xfrm>
            <a:off x="1026160" y="2250440"/>
            <a:ext cx="161544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A78D6"/>
                </a:solidFill>
                <a:latin typeface="Inter" pitchFamily="34" charset="0"/>
                <a:ea typeface="Inter" pitchFamily="34" charset="-122"/>
                <a:cs typeface="Inter" pitchFamily="34" charset="-120"/>
              </a:rPr>
              <a:t>1</a:t>
            </a:r>
            <a:endParaRPr lang="en-US" sz="2800" dirty="0"/>
          </a:p>
        </p:txBody>
      </p:sp>
      <p:sp>
        <p:nvSpPr>
          <p:cNvPr id="5" name="Text 3"/>
          <p:cNvSpPr/>
          <p:nvPr/>
        </p:nvSpPr>
        <p:spPr>
          <a:xfrm>
            <a:off x="1026160" y="2758440"/>
            <a:ext cx="16154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Collect</a:t>
            </a:r>
            <a:endParaRPr lang="en-US" sz="1600" dirty="0"/>
          </a:p>
        </p:txBody>
      </p:sp>
      <p:sp>
        <p:nvSpPr>
          <p:cNvPr id="6" name="Text 4"/>
          <p:cNvSpPr/>
          <p:nvPr/>
        </p:nvSpPr>
        <p:spPr>
          <a:xfrm>
            <a:off x="1026160" y="3195320"/>
            <a:ext cx="1615440"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Five years of daily prices for 28 Nifty 50 stocks and the index, from Yahoo Finance.</a:t>
            </a:r>
            <a:endParaRPr lang="en-US" sz="1200" dirty="0"/>
          </a:p>
        </p:txBody>
      </p:sp>
      <p:sp>
        <p:nvSpPr>
          <p:cNvPr id="7" name="Shape 5"/>
          <p:cNvSpPr/>
          <p:nvPr/>
        </p:nvSpPr>
        <p:spPr>
          <a:xfrm>
            <a:off x="2962910" y="1992630"/>
            <a:ext cx="1978660" cy="3843020"/>
          </a:xfrm>
          <a:prstGeom prst="roundRect">
            <a:avLst>
              <a:gd name="adj" fmla="val 7381"/>
            </a:avLst>
          </a:prstGeom>
          <a:solidFill>
            <a:srgbClr val="FFFFFF"/>
          </a:solidFill>
          <a:ln w="12700">
            <a:solidFill>
              <a:srgbClr val="E3E6EE"/>
            </a:solidFill>
            <a:prstDash val="solid"/>
          </a:ln>
        </p:spPr>
      </p:sp>
      <p:sp>
        <p:nvSpPr>
          <p:cNvPr id="8" name="Text 6"/>
          <p:cNvSpPr/>
          <p:nvPr/>
        </p:nvSpPr>
        <p:spPr>
          <a:xfrm>
            <a:off x="3169920" y="2250440"/>
            <a:ext cx="161544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A78D6"/>
                </a:solidFill>
                <a:latin typeface="Inter" pitchFamily="34" charset="0"/>
                <a:ea typeface="Inter" pitchFamily="34" charset="-122"/>
                <a:cs typeface="Inter" pitchFamily="34" charset="-120"/>
              </a:rPr>
              <a:t>2</a:t>
            </a:r>
            <a:endParaRPr lang="en-US" sz="2800" dirty="0"/>
          </a:p>
        </p:txBody>
      </p:sp>
      <p:sp>
        <p:nvSpPr>
          <p:cNvPr id="9" name="Text 7"/>
          <p:cNvSpPr/>
          <p:nvPr/>
        </p:nvSpPr>
        <p:spPr>
          <a:xfrm>
            <a:off x="3169920" y="2758440"/>
            <a:ext cx="16154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Clean</a:t>
            </a:r>
            <a:endParaRPr lang="en-US" sz="1600" dirty="0"/>
          </a:p>
        </p:txBody>
      </p:sp>
      <p:sp>
        <p:nvSpPr>
          <p:cNvPr id="10" name="Text 8"/>
          <p:cNvSpPr/>
          <p:nvPr/>
        </p:nvSpPr>
        <p:spPr>
          <a:xfrm>
            <a:off x="3169920" y="3195320"/>
            <a:ext cx="1615440" cy="11303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Remove 57 placeholder rows, align every stock to the same 1,233 trading days.</a:t>
            </a:r>
            <a:endParaRPr lang="en-US" sz="1200" dirty="0"/>
          </a:p>
        </p:txBody>
      </p:sp>
      <p:sp>
        <p:nvSpPr>
          <p:cNvPr id="11" name="Shape 9"/>
          <p:cNvSpPr/>
          <p:nvPr/>
        </p:nvSpPr>
        <p:spPr>
          <a:xfrm>
            <a:off x="5106670" y="1992630"/>
            <a:ext cx="1978660" cy="3843020"/>
          </a:xfrm>
          <a:prstGeom prst="roundRect">
            <a:avLst>
              <a:gd name="adj" fmla="val 7381"/>
            </a:avLst>
          </a:prstGeom>
          <a:solidFill>
            <a:srgbClr val="FFFFFF"/>
          </a:solidFill>
          <a:ln w="12700">
            <a:solidFill>
              <a:srgbClr val="E3E6EE"/>
            </a:solidFill>
            <a:prstDash val="solid"/>
          </a:ln>
        </p:spPr>
      </p:sp>
      <p:sp>
        <p:nvSpPr>
          <p:cNvPr id="12" name="Text 10"/>
          <p:cNvSpPr/>
          <p:nvPr/>
        </p:nvSpPr>
        <p:spPr>
          <a:xfrm>
            <a:off x="5313680" y="2250440"/>
            <a:ext cx="161544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A78D6"/>
                </a:solidFill>
                <a:latin typeface="Inter" pitchFamily="34" charset="0"/>
                <a:ea typeface="Inter" pitchFamily="34" charset="-122"/>
                <a:cs typeface="Inter" pitchFamily="34" charset="-120"/>
              </a:rPr>
              <a:t>3</a:t>
            </a:r>
            <a:endParaRPr lang="en-US" sz="2800" dirty="0"/>
          </a:p>
        </p:txBody>
      </p:sp>
      <p:sp>
        <p:nvSpPr>
          <p:cNvPr id="13" name="Text 11"/>
          <p:cNvSpPr/>
          <p:nvPr/>
        </p:nvSpPr>
        <p:spPr>
          <a:xfrm>
            <a:off x="5313680" y="2758440"/>
            <a:ext cx="16154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Score</a:t>
            </a:r>
            <a:endParaRPr lang="en-US" sz="1600" dirty="0"/>
          </a:p>
        </p:txBody>
      </p:sp>
      <p:sp>
        <p:nvSpPr>
          <p:cNvPr id="14" name="Text 12"/>
          <p:cNvSpPr/>
          <p:nvPr/>
        </p:nvSpPr>
        <p:spPr>
          <a:xfrm>
            <a:off x="5313680" y="3195320"/>
            <a:ext cx="1615440" cy="11303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Measure return, volatility, drawdown, beta, trend and momentum, then combine them.</a:t>
            </a:r>
            <a:endParaRPr lang="en-US" sz="1200" dirty="0"/>
          </a:p>
        </p:txBody>
      </p:sp>
      <p:sp>
        <p:nvSpPr>
          <p:cNvPr id="15" name="Shape 13"/>
          <p:cNvSpPr/>
          <p:nvPr/>
        </p:nvSpPr>
        <p:spPr>
          <a:xfrm>
            <a:off x="7250430" y="1992630"/>
            <a:ext cx="1978660" cy="3843020"/>
          </a:xfrm>
          <a:prstGeom prst="roundRect">
            <a:avLst>
              <a:gd name="adj" fmla="val 7381"/>
            </a:avLst>
          </a:prstGeom>
          <a:solidFill>
            <a:srgbClr val="FFFFFF"/>
          </a:solidFill>
          <a:ln w="12700">
            <a:solidFill>
              <a:srgbClr val="E3E6EE"/>
            </a:solidFill>
            <a:prstDash val="solid"/>
          </a:ln>
        </p:spPr>
      </p:sp>
      <p:sp>
        <p:nvSpPr>
          <p:cNvPr id="16" name="Text 14"/>
          <p:cNvSpPr/>
          <p:nvPr/>
        </p:nvSpPr>
        <p:spPr>
          <a:xfrm>
            <a:off x="7457440" y="2250440"/>
            <a:ext cx="161544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A78D6"/>
                </a:solidFill>
                <a:latin typeface="Inter" pitchFamily="34" charset="0"/>
                <a:ea typeface="Inter" pitchFamily="34" charset="-122"/>
                <a:cs typeface="Inter" pitchFamily="34" charset="-120"/>
              </a:rPr>
              <a:t>4</a:t>
            </a:r>
            <a:endParaRPr lang="en-US" sz="2800" dirty="0"/>
          </a:p>
        </p:txBody>
      </p:sp>
      <p:sp>
        <p:nvSpPr>
          <p:cNvPr id="17" name="Text 15"/>
          <p:cNvSpPr/>
          <p:nvPr/>
        </p:nvSpPr>
        <p:spPr>
          <a:xfrm>
            <a:off x="7457440" y="2758440"/>
            <a:ext cx="16154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Recommend</a:t>
            </a:r>
            <a:endParaRPr lang="en-US" sz="1600" dirty="0"/>
          </a:p>
        </p:txBody>
      </p:sp>
      <p:sp>
        <p:nvSpPr>
          <p:cNvPr id="18" name="Text 16"/>
          <p:cNvSpPr/>
          <p:nvPr/>
        </p:nvSpPr>
        <p:spPr>
          <a:xfrm>
            <a:off x="7457440" y="3195320"/>
            <a:ext cx="1615440"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Turn each total score into Buy, Hold or Sell, with a risk level alongside.</a:t>
            </a:r>
            <a:endParaRPr lang="en-US" sz="1200" dirty="0"/>
          </a:p>
        </p:txBody>
      </p:sp>
      <p:sp>
        <p:nvSpPr>
          <p:cNvPr id="19" name="Shape 17"/>
          <p:cNvSpPr/>
          <p:nvPr/>
        </p:nvSpPr>
        <p:spPr>
          <a:xfrm>
            <a:off x="9394190" y="1992630"/>
            <a:ext cx="1978660" cy="3843020"/>
          </a:xfrm>
          <a:prstGeom prst="roundRect">
            <a:avLst>
              <a:gd name="adj" fmla="val 7381"/>
            </a:avLst>
          </a:prstGeom>
          <a:solidFill>
            <a:srgbClr val="E6EEFB"/>
          </a:solidFill>
          <a:ln w="12700">
            <a:solidFill>
              <a:srgbClr val="E6EEFB"/>
            </a:solidFill>
            <a:prstDash val="solid"/>
          </a:ln>
        </p:spPr>
      </p:sp>
      <p:sp>
        <p:nvSpPr>
          <p:cNvPr id="20" name="Text 18"/>
          <p:cNvSpPr/>
          <p:nvPr/>
        </p:nvSpPr>
        <p:spPr>
          <a:xfrm>
            <a:off x="9601200" y="2250440"/>
            <a:ext cx="1615440" cy="381000"/>
          </a:xfrm>
          <a:prstGeom prst="rect">
            <a:avLst/>
          </a:prstGeom>
          <a:noFill/>
          <a:ln/>
        </p:spPr>
        <p:txBody>
          <a:bodyPr wrap="square" lIns="0" tIns="0" rIns="0" bIns="0" rtlCol="0" anchor="t">
            <a:normAutofit/>
          </a:bodyPr>
          <a:lstStyle/>
          <a:p>
            <a:pPr algn="l" indent="0" marL="0">
              <a:lnSpc>
                <a:spcPts val="2800"/>
              </a:lnSpc>
              <a:buNone/>
            </a:pPr>
            <a:r>
              <a:rPr lang="en-US" sz="2800" b="1" dirty="0">
                <a:solidFill>
                  <a:srgbClr val="2A78D6"/>
                </a:solidFill>
                <a:latin typeface="Inter" pitchFamily="34" charset="0"/>
                <a:ea typeface="Inter" pitchFamily="34" charset="-122"/>
                <a:cs typeface="Inter" pitchFamily="34" charset="-120"/>
              </a:rPr>
              <a:t>5</a:t>
            </a:r>
            <a:endParaRPr lang="en-US" sz="2800" dirty="0"/>
          </a:p>
        </p:txBody>
      </p:sp>
      <p:sp>
        <p:nvSpPr>
          <p:cNvPr id="21" name="Text 19"/>
          <p:cNvSpPr/>
          <p:nvPr/>
        </p:nvSpPr>
        <p:spPr>
          <a:xfrm>
            <a:off x="9601200" y="2758440"/>
            <a:ext cx="16154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Show</a:t>
            </a:r>
            <a:endParaRPr lang="en-US" sz="1600" dirty="0"/>
          </a:p>
        </p:txBody>
      </p:sp>
      <p:sp>
        <p:nvSpPr>
          <p:cNvPr id="22" name="Text 20"/>
          <p:cNvSpPr/>
          <p:nvPr/>
        </p:nvSpPr>
        <p:spPr>
          <a:xfrm>
            <a:off x="9601200" y="3195320"/>
            <a:ext cx="1615440" cy="909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A five-page Streamlit dashboard, live on the web, to explore and compare.</a:t>
            </a:r>
            <a:endParaRPr lang="en-US" sz="1200" dirty="0"/>
          </a:p>
        </p:txBody>
      </p:sp>
      <p:sp>
        <p:nvSpPr>
          <p:cNvPr id="23" name="Text 21"/>
          <p:cNvSpPr/>
          <p:nvPr/>
        </p:nvSpPr>
        <p:spPr>
          <a:xfrm>
            <a:off x="812800" y="6238241"/>
            <a:ext cx="368503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Each step is a notebook in the GitHub repo</a:t>
            </a:r>
            <a:endParaRPr lang="en-US" sz="1200" dirty="0"/>
          </a:p>
        </p:txBody>
      </p:sp>
      <p:sp>
        <p:nvSpPr>
          <p:cNvPr id="24" name="Text 22"/>
          <p:cNvSpPr/>
          <p:nvPr/>
        </p:nvSpPr>
        <p:spPr>
          <a:xfrm>
            <a:off x="11235452" y="6238241"/>
            <a:ext cx="14374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156700"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28 stocks across 8 sectors, five years of daily prices</a:t>
            </a:r>
            <a:endParaRPr lang="en-US" sz="2800" dirty="0"/>
          </a:p>
        </p:txBody>
      </p:sp>
      <p:sp>
        <p:nvSpPr>
          <p:cNvPr id="3" name="Shape 1"/>
          <p:cNvSpPr/>
          <p:nvPr/>
        </p:nvSpPr>
        <p:spPr>
          <a:xfrm>
            <a:off x="819150" y="1992630"/>
            <a:ext cx="3407807" cy="1485900"/>
          </a:xfrm>
          <a:prstGeom prst="roundRect">
            <a:avLst>
              <a:gd name="adj" fmla="val 9829"/>
            </a:avLst>
          </a:prstGeom>
          <a:solidFill>
            <a:srgbClr val="FFFFFF"/>
          </a:solidFill>
          <a:ln w="12700">
            <a:solidFill>
              <a:srgbClr val="E3E6EE"/>
            </a:solidFill>
            <a:prstDash val="solid"/>
          </a:ln>
        </p:spPr>
      </p:sp>
      <p:sp>
        <p:nvSpPr>
          <p:cNvPr id="4" name="Text 2"/>
          <p:cNvSpPr/>
          <p:nvPr/>
        </p:nvSpPr>
        <p:spPr>
          <a:xfrm>
            <a:off x="1026160" y="2250441"/>
            <a:ext cx="30836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A78D6"/>
                </a:solidFill>
                <a:latin typeface="Inter" pitchFamily="34" charset="0"/>
                <a:ea typeface="Inter" pitchFamily="34" charset="-122"/>
                <a:cs typeface="Inter" pitchFamily="34" charset="-120"/>
              </a:rPr>
              <a:t>28</a:t>
            </a:r>
            <a:endParaRPr lang="en-US" sz="4800" dirty="0"/>
          </a:p>
        </p:txBody>
      </p:sp>
      <p:sp>
        <p:nvSpPr>
          <p:cNvPr id="5" name="Text 3"/>
          <p:cNvSpPr/>
          <p:nvPr/>
        </p:nvSpPr>
        <p:spPr>
          <a:xfrm>
            <a:off x="1026160" y="2936241"/>
            <a:ext cx="308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Nifty 50 stocks</a:t>
            </a:r>
            <a:endParaRPr lang="en-US" sz="1600" dirty="0"/>
          </a:p>
        </p:txBody>
      </p:sp>
      <p:sp>
        <p:nvSpPr>
          <p:cNvPr id="6" name="Shape 4"/>
          <p:cNvSpPr/>
          <p:nvPr/>
        </p:nvSpPr>
        <p:spPr>
          <a:xfrm>
            <a:off x="4392057" y="1992630"/>
            <a:ext cx="3407886" cy="1485900"/>
          </a:xfrm>
          <a:prstGeom prst="roundRect">
            <a:avLst>
              <a:gd name="adj" fmla="val 9829"/>
            </a:avLst>
          </a:prstGeom>
          <a:solidFill>
            <a:srgbClr val="FFFFFF"/>
          </a:solidFill>
          <a:ln w="12700">
            <a:solidFill>
              <a:srgbClr val="E3E6EE"/>
            </a:solidFill>
            <a:prstDash val="solid"/>
          </a:ln>
        </p:spPr>
      </p:sp>
      <p:sp>
        <p:nvSpPr>
          <p:cNvPr id="7" name="Text 5"/>
          <p:cNvSpPr/>
          <p:nvPr/>
        </p:nvSpPr>
        <p:spPr>
          <a:xfrm>
            <a:off x="4599067" y="2250441"/>
            <a:ext cx="308368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A78D6"/>
                </a:solidFill>
                <a:latin typeface="Inter" pitchFamily="34" charset="0"/>
                <a:ea typeface="Inter" pitchFamily="34" charset="-122"/>
                <a:cs typeface="Inter" pitchFamily="34" charset="-120"/>
              </a:rPr>
              <a:t>8</a:t>
            </a:r>
            <a:endParaRPr lang="en-US" sz="4800" dirty="0"/>
          </a:p>
        </p:txBody>
      </p:sp>
      <p:sp>
        <p:nvSpPr>
          <p:cNvPr id="8" name="Text 6"/>
          <p:cNvSpPr/>
          <p:nvPr/>
        </p:nvSpPr>
        <p:spPr>
          <a:xfrm>
            <a:off x="4599067" y="2936241"/>
            <a:ext cx="308368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Sectors</a:t>
            </a:r>
            <a:endParaRPr lang="en-US" sz="1600" dirty="0"/>
          </a:p>
        </p:txBody>
      </p:sp>
      <p:sp>
        <p:nvSpPr>
          <p:cNvPr id="9" name="Shape 7"/>
          <p:cNvSpPr/>
          <p:nvPr/>
        </p:nvSpPr>
        <p:spPr>
          <a:xfrm>
            <a:off x="7965043" y="1992630"/>
            <a:ext cx="3407807" cy="1485900"/>
          </a:xfrm>
          <a:prstGeom prst="roundRect">
            <a:avLst>
              <a:gd name="adj" fmla="val 9829"/>
            </a:avLst>
          </a:prstGeom>
          <a:solidFill>
            <a:srgbClr val="FFFFFF"/>
          </a:solidFill>
          <a:ln w="12700">
            <a:solidFill>
              <a:srgbClr val="E3E6EE"/>
            </a:solidFill>
            <a:prstDash val="solid"/>
          </a:ln>
        </p:spPr>
      </p:sp>
      <p:sp>
        <p:nvSpPr>
          <p:cNvPr id="10" name="Text 8"/>
          <p:cNvSpPr/>
          <p:nvPr/>
        </p:nvSpPr>
        <p:spPr>
          <a:xfrm>
            <a:off x="8172053" y="2250441"/>
            <a:ext cx="3083600"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A78D6"/>
                </a:solidFill>
                <a:latin typeface="Inter" pitchFamily="34" charset="0"/>
                <a:ea typeface="Inter" pitchFamily="34" charset="-122"/>
                <a:cs typeface="Inter" pitchFamily="34" charset="-120"/>
              </a:rPr>
              <a:t>1,233</a:t>
            </a:r>
            <a:endParaRPr lang="en-US" sz="4800" dirty="0"/>
          </a:p>
        </p:txBody>
      </p:sp>
      <p:sp>
        <p:nvSpPr>
          <p:cNvPr id="11" name="Text 9"/>
          <p:cNvSpPr/>
          <p:nvPr/>
        </p:nvSpPr>
        <p:spPr>
          <a:xfrm>
            <a:off x="8172053" y="2936241"/>
            <a:ext cx="30836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Common trading days</a:t>
            </a:r>
            <a:endParaRPr lang="en-US" sz="1600" dirty="0"/>
          </a:p>
        </p:txBody>
      </p:sp>
      <p:sp>
        <p:nvSpPr>
          <p:cNvPr id="12" name="Text 10"/>
          <p:cNvSpPr/>
          <p:nvPr/>
        </p:nvSpPr>
        <p:spPr>
          <a:xfrm>
            <a:off x="812800" y="3840480"/>
            <a:ext cx="943689"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Banking</a:t>
            </a:r>
            <a:endParaRPr lang="en-US" sz="1200" dirty="0"/>
          </a:p>
        </p:txBody>
      </p:sp>
      <p:sp>
        <p:nvSpPr>
          <p:cNvPr id="13" name="Text 11"/>
          <p:cNvSpPr/>
          <p:nvPr/>
        </p:nvSpPr>
        <p:spPr>
          <a:xfrm>
            <a:off x="1858089" y="3840480"/>
            <a:ext cx="496649"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IT</a:t>
            </a:r>
            <a:endParaRPr lang="en-US" sz="1200" dirty="0"/>
          </a:p>
        </p:txBody>
      </p:sp>
      <p:sp>
        <p:nvSpPr>
          <p:cNvPr id="14" name="Text 12"/>
          <p:cNvSpPr/>
          <p:nvPr/>
        </p:nvSpPr>
        <p:spPr>
          <a:xfrm>
            <a:off x="2456339" y="3840480"/>
            <a:ext cx="866854"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Energy</a:t>
            </a:r>
            <a:endParaRPr lang="en-US" sz="1200" dirty="0"/>
          </a:p>
        </p:txBody>
      </p:sp>
      <p:sp>
        <p:nvSpPr>
          <p:cNvPr id="15" name="Text 13"/>
          <p:cNvSpPr/>
          <p:nvPr/>
        </p:nvSpPr>
        <p:spPr>
          <a:xfrm>
            <a:off x="3424793" y="3840480"/>
            <a:ext cx="810260"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FMCG</a:t>
            </a:r>
            <a:endParaRPr lang="en-US" sz="1200" dirty="0"/>
          </a:p>
        </p:txBody>
      </p:sp>
      <p:sp>
        <p:nvSpPr>
          <p:cNvPr id="16" name="Text 14"/>
          <p:cNvSpPr/>
          <p:nvPr/>
        </p:nvSpPr>
        <p:spPr>
          <a:xfrm>
            <a:off x="4336653" y="3840480"/>
            <a:ext cx="914400"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Pharma</a:t>
            </a:r>
            <a:endParaRPr lang="en-US" sz="1200" dirty="0"/>
          </a:p>
        </p:txBody>
      </p:sp>
      <p:sp>
        <p:nvSpPr>
          <p:cNvPr id="17" name="Text 15"/>
          <p:cNvSpPr/>
          <p:nvPr/>
        </p:nvSpPr>
        <p:spPr>
          <a:xfrm>
            <a:off x="5352653" y="3840480"/>
            <a:ext cx="697786"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Auto</a:t>
            </a:r>
            <a:endParaRPr lang="en-US" sz="1200" dirty="0"/>
          </a:p>
        </p:txBody>
      </p:sp>
      <p:sp>
        <p:nvSpPr>
          <p:cNvPr id="18" name="Text 16"/>
          <p:cNvSpPr/>
          <p:nvPr/>
        </p:nvSpPr>
        <p:spPr>
          <a:xfrm>
            <a:off x="6152039" y="3840480"/>
            <a:ext cx="843836"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Metals</a:t>
            </a:r>
            <a:endParaRPr lang="en-US" sz="1200" dirty="0"/>
          </a:p>
        </p:txBody>
      </p:sp>
      <p:sp>
        <p:nvSpPr>
          <p:cNvPr id="19" name="Text 17"/>
          <p:cNvSpPr/>
          <p:nvPr/>
        </p:nvSpPr>
        <p:spPr>
          <a:xfrm>
            <a:off x="7097475" y="3840480"/>
            <a:ext cx="1511379" cy="365760"/>
          </a:xfrm>
          <a:prstGeom prst="roundRect">
            <a:avLst>
              <a:gd name="adj" fmla="val 50000"/>
            </a:avLst>
          </a:prstGeom>
          <a:solidFill>
            <a:srgbClr val="E6EEFB"/>
          </a:solidFill>
          <a:ln/>
        </p:spPr>
        <p:txBody>
          <a:bodyPr wrap="none" lIns="0" tIns="0" rIns="0" bIns="0" rtlCol="0" anchor="ctr">
            <a:normAutofit/>
          </a:bodyPr>
          <a:lstStyle/>
          <a:p>
            <a:pPr algn="ctr" indent="0" marL="0">
              <a:lnSpc>
                <a:spcPts val="1680"/>
              </a:lnSpc>
              <a:buNone/>
            </a:pPr>
            <a:r>
              <a:rPr lang="en-US" sz="1200" dirty="0">
                <a:solidFill>
                  <a:srgbClr val="14213D"/>
                </a:solidFill>
                <a:latin typeface="Inter" pitchFamily="34" charset="0"/>
                <a:ea typeface="Inter" pitchFamily="34" charset="-122"/>
                <a:cs typeface="Inter" pitchFamily="34" charset="-120"/>
              </a:rPr>
              <a:t>Infra and others</a:t>
            </a:r>
            <a:endParaRPr lang="en-US" sz="1200" dirty="0"/>
          </a:p>
        </p:txBody>
      </p:sp>
      <p:sp>
        <p:nvSpPr>
          <p:cNvPr id="20" name="Text 18"/>
          <p:cNvSpPr/>
          <p:nvPr/>
        </p:nvSpPr>
        <p:spPr>
          <a:xfrm>
            <a:off x="812800" y="4561841"/>
            <a:ext cx="915670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Inter" pitchFamily="34" charset="0"/>
                <a:ea typeface="Inter" pitchFamily="34" charset="-122"/>
                <a:cs typeface="Inter" pitchFamily="34" charset="-120"/>
              </a:rPr>
              <a:t>Source: Yahoo Finance through yfinance, with the Nifty 50 index as the benchmark. Cleaning removed 57 placeholder rows with no recorded trading, and kept only the days when every stock traded.</a:t>
            </a:r>
            <a:endParaRPr lang="en-US" sz="1600" dirty="0"/>
          </a:p>
        </p:txBody>
      </p:sp>
      <p:sp>
        <p:nvSpPr>
          <p:cNvPr id="21" name="Text 19"/>
          <p:cNvSpPr/>
          <p:nvPr/>
        </p:nvSpPr>
        <p:spPr>
          <a:xfrm>
            <a:off x="812800" y="6238241"/>
            <a:ext cx="18340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Notebooks 01 and 02</a:t>
            </a:r>
            <a:endParaRPr lang="en-US" sz="1200" dirty="0"/>
          </a:p>
        </p:txBody>
      </p:sp>
      <p:sp>
        <p:nvSpPr>
          <p:cNvPr id="22" name="Text 20"/>
          <p:cNvSpPr/>
          <p:nvPr/>
        </p:nvSpPr>
        <p:spPr>
          <a:xfrm>
            <a:off x="11234262" y="6238241"/>
            <a:ext cx="14493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156700"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Two scores decide every recommendation</a:t>
            </a:r>
            <a:endParaRPr lang="en-US" sz="2800" dirty="0"/>
          </a:p>
        </p:txBody>
      </p:sp>
      <p:sp>
        <p:nvSpPr>
          <p:cNvPr id="3" name="Shape 1"/>
          <p:cNvSpPr/>
          <p:nvPr/>
        </p:nvSpPr>
        <p:spPr>
          <a:xfrm>
            <a:off x="819150" y="1532891"/>
            <a:ext cx="5168900" cy="4302760"/>
          </a:xfrm>
          <a:prstGeom prst="roundRect">
            <a:avLst>
              <a:gd name="adj" fmla="val 3394"/>
            </a:avLst>
          </a:prstGeom>
          <a:solidFill>
            <a:srgbClr val="FFFFFF"/>
          </a:solidFill>
          <a:ln w="12700">
            <a:solidFill>
              <a:srgbClr val="E3E6EE"/>
            </a:solidFill>
            <a:prstDash val="solid"/>
          </a:ln>
        </p:spPr>
      </p:sp>
      <p:sp>
        <p:nvSpPr>
          <p:cNvPr id="4" name="Text 2"/>
          <p:cNvSpPr/>
          <p:nvPr/>
        </p:nvSpPr>
        <p:spPr>
          <a:xfrm>
            <a:off x="1076960" y="1790700"/>
            <a:ext cx="479287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Risk score, 0 to 100</a:t>
            </a:r>
            <a:endParaRPr lang="en-US" sz="1600" dirty="0"/>
          </a:p>
        </p:txBody>
      </p:sp>
      <p:sp>
        <p:nvSpPr>
          <p:cNvPr id="5" name="Shape 3"/>
          <p:cNvSpPr/>
          <p:nvPr/>
        </p:nvSpPr>
        <p:spPr>
          <a:xfrm>
            <a:off x="1076960" y="2227580"/>
            <a:ext cx="1840944" cy="254000"/>
          </a:xfrm>
          <a:prstGeom prst="roundRect">
            <a:avLst>
              <a:gd name="adj" fmla="val 20000"/>
            </a:avLst>
          </a:prstGeom>
          <a:solidFill>
            <a:srgbClr val="2A78D6"/>
          </a:solidFill>
          <a:ln/>
        </p:spPr>
      </p:sp>
      <p:sp>
        <p:nvSpPr>
          <p:cNvPr id="6" name="Shape 4"/>
          <p:cNvSpPr/>
          <p:nvPr/>
        </p:nvSpPr>
        <p:spPr>
          <a:xfrm>
            <a:off x="2943304" y="2227580"/>
            <a:ext cx="1841024" cy="254000"/>
          </a:xfrm>
          <a:prstGeom prst="roundRect">
            <a:avLst>
              <a:gd name="adj" fmla="val 20000"/>
            </a:avLst>
          </a:prstGeom>
          <a:solidFill>
            <a:srgbClr val="6DA7EC"/>
          </a:solidFill>
          <a:ln/>
        </p:spPr>
      </p:sp>
      <p:sp>
        <p:nvSpPr>
          <p:cNvPr id="7" name="Shape 5"/>
          <p:cNvSpPr/>
          <p:nvPr/>
        </p:nvSpPr>
        <p:spPr>
          <a:xfrm>
            <a:off x="4809728" y="2227580"/>
            <a:ext cx="920512" cy="254000"/>
          </a:xfrm>
          <a:prstGeom prst="roundRect">
            <a:avLst>
              <a:gd name="adj" fmla="val 20000"/>
            </a:avLst>
          </a:prstGeom>
          <a:solidFill>
            <a:srgbClr val="B7D3F6"/>
          </a:solidFill>
          <a:ln/>
        </p:spPr>
      </p:sp>
      <p:sp>
        <p:nvSpPr>
          <p:cNvPr id="8" name="Text 6"/>
          <p:cNvSpPr/>
          <p:nvPr/>
        </p:nvSpPr>
        <p:spPr>
          <a:xfrm>
            <a:off x="1076960" y="2633980"/>
            <a:ext cx="47928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40%</a:t>
            </a:r>
            <a:r>
              <a:rPr lang="en-US" sz="1200" dirty="0">
                <a:solidFill>
                  <a:srgbClr val="4A5568"/>
                </a:solidFill>
                <a:latin typeface="Inter" pitchFamily="34" charset="0"/>
                <a:ea typeface="Inter" pitchFamily="34" charset="-122"/>
                <a:cs typeface="Inter" pitchFamily="34" charset="-120"/>
              </a:rPr>
              <a:t> volatility, how much the price swings</a:t>
            </a:r>
            <a:endParaRPr lang="en-US" sz="1200" dirty="0"/>
          </a:p>
        </p:txBody>
      </p:sp>
      <p:sp>
        <p:nvSpPr>
          <p:cNvPr id="9" name="Text 7"/>
          <p:cNvSpPr/>
          <p:nvPr/>
        </p:nvSpPr>
        <p:spPr>
          <a:xfrm>
            <a:off x="1076960" y="2923541"/>
            <a:ext cx="47928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40%</a:t>
            </a:r>
            <a:r>
              <a:rPr lang="en-US" sz="1200" dirty="0">
                <a:solidFill>
                  <a:srgbClr val="4A5568"/>
                </a:solidFill>
                <a:latin typeface="Inter" pitchFamily="34" charset="0"/>
                <a:ea typeface="Inter" pitchFamily="34" charset="-122"/>
                <a:cs typeface="Inter" pitchFamily="34" charset="-120"/>
              </a:rPr>
              <a:t> maximum drawdown, the worst fall</a:t>
            </a:r>
            <a:endParaRPr lang="en-US" sz="1200" dirty="0"/>
          </a:p>
        </p:txBody>
      </p:sp>
      <p:sp>
        <p:nvSpPr>
          <p:cNvPr id="10" name="Text 8"/>
          <p:cNvSpPr/>
          <p:nvPr/>
        </p:nvSpPr>
        <p:spPr>
          <a:xfrm>
            <a:off x="1076960" y="3213100"/>
            <a:ext cx="47928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20%</a:t>
            </a:r>
            <a:r>
              <a:rPr lang="en-US" sz="1200" dirty="0">
                <a:solidFill>
                  <a:srgbClr val="4A5568"/>
                </a:solidFill>
                <a:latin typeface="Inter" pitchFamily="34" charset="0"/>
                <a:ea typeface="Inter" pitchFamily="34" charset="-122"/>
                <a:cs typeface="Inter" pitchFamily="34" charset="-120"/>
              </a:rPr>
              <a:t> beta, sensitivity to the Nifty 50</a:t>
            </a:r>
            <a:endParaRPr lang="en-US" sz="1200" dirty="0"/>
          </a:p>
        </p:txBody>
      </p:sp>
      <p:sp>
        <p:nvSpPr>
          <p:cNvPr id="11" name="Text 9"/>
          <p:cNvSpPr/>
          <p:nvPr/>
        </p:nvSpPr>
        <p:spPr>
          <a:xfrm>
            <a:off x="1076960" y="3578861"/>
            <a:ext cx="47928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nter" pitchFamily="34" charset="0"/>
                <a:ea typeface="Inter" pitchFamily="34" charset="-122"/>
                <a:cs typeface="Inter" pitchFamily="34" charset="-120"/>
              </a:rPr>
              <a:t>Low under 33, Medium 33 to 66, High over 66</a:t>
            </a:r>
            <a:endParaRPr lang="en-US" sz="1200" dirty="0"/>
          </a:p>
        </p:txBody>
      </p:sp>
      <p:sp>
        <p:nvSpPr>
          <p:cNvPr id="12" name="Shape 10"/>
          <p:cNvSpPr/>
          <p:nvPr/>
        </p:nvSpPr>
        <p:spPr>
          <a:xfrm>
            <a:off x="6203950" y="1532891"/>
            <a:ext cx="5168900" cy="4302760"/>
          </a:xfrm>
          <a:prstGeom prst="roundRect">
            <a:avLst>
              <a:gd name="adj" fmla="val 3394"/>
            </a:avLst>
          </a:prstGeom>
          <a:solidFill>
            <a:srgbClr val="FFFFFF"/>
          </a:solidFill>
          <a:ln w="12700">
            <a:solidFill>
              <a:srgbClr val="E3E6EE"/>
            </a:solidFill>
            <a:prstDash val="solid"/>
          </a:ln>
        </p:spPr>
      </p:sp>
      <p:sp>
        <p:nvSpPr>
          <p:cNvPr id="13" name="Text 11"/>
          <p:cNvSpPr/>
          <p:nvPr/>
        </p:nvSpPr>
        <p:spPr>
          <a:xfrm>
            <a:off x="6461760" y="1790700"/>
            <a:ext cx="479287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Total score, 0 to 100</a:t>
            </a:r>
            <a:endParaRPr lang="en-US" sz="1600" dirty="0"/>
          </a:p>
        </p:txBody>
      </p:sp>
      <p:sp>
        <p:nvSpPr>
          <p:cNvPr id="14" name="Shape 12"/>
          <p:cNvSpPr/>
          <p:nvPr/>
        </p:nvSpPr>
        <p:spPr>
          <a:xfrm>
            <a:off x="6461760" y="2227580"/>
            <a:ext cx="1601946" cy="254000"/>
          </a:xfrm>
          <a:prstGeom prst="roundRect">
            <a:avLst>
              <a:gd name="adj" fmla="val 20000"/>
            </a:avLst>
          </a:prstGeom>
          <a:solidFill>
            <a:srgbClr val="2A78D6"/>
          </a:solidFill>
          <a:ln/>
        </p:spPr>
      </p:sp>
      <p:sp>
        <p:nvSpPr>
          <p:cNvPr id="15" name="Shape 13"/>
          <p:cNvSpPr/>
          <p:nvPr/>
        </p:nvSpPr>
        <p:spPr>
          <a:xfrm>
            <a:off x="8089106" y="2227580"/>
            <a:ext cx="1144270" cy="254000"/>
          </a:xfrm>
          <a:prstGeom prst="roundRect">
            <a:avLst>
              <a:gd name="adj" fmla="val 20000"/>
            </a:avLst>
          </a:prstGeom>
          <a:solidFill>
            <a:srgbClr val="6DA7EC"/>
          </a:solidFill>
          <a:ln/>
        </p:spPr>
      </p:sp>
      <p:sp>
        <p:nvSpPr>
          <p:cNvPr id="16" name="Shape 14"/>
          <p:cNvSpPr/>
          <p:nvPr/>
        </p:nvSpPr>
        <p:spPr>
          <a:xfrm>
            <a:off x="9258777" y="2227580"/>
            <a:ext cx="1144270" cy="254000"/>
          </a:xfrm>
          <a:prstGeom prst="roundRect">
            <a:avLst>
              <a:gd name="adj" fmla="val 20000"/>
            </a:avLst>
          </a:prstGeom>
          <a:solidFill>
            <a:srgbClr val="9EC5F4"/>
          </a:solidFill>
          <a:ln/>
        </p:spPr>
      </p:sp>
      <p:sp>
        <p:nvSpPr>
          <p:cNvPr id="17" name="Shape 15"/>
          <p:cNvSpPr/>
          <p:nvPr/>
        </p:nvSpPr>
        <p:spPr>
          <a:xfrm>
            <a:off x="10428446" y="2227580"/>
            <a:ext cx="686594" cy="254000"/>
          </a:xfrm>
          <a:prstGeom prst="roundRect">
            <a:avLst>
              <a:gd name="adj" fmla="val 20000"/>
            </a:avLst>
          </a:prstGeom>
          <a:solidFill>
            <a:srgbClr val="CDE2FB"/>
          </a:solidFill>
          <a:ln/>
        </p:spPr>
      </p:sp>
      <p:sp>
        <p:nvSpPr>
          <p:cNvPr id="18" name="Text 16"/>
          <p:cNvSpPr/>
          <p:nvPr/>
        </p:nvSpPr>
        <p:spPr>
          <a:xfrm>
            <a:off x="6461760" y="2633980"/>
            <a:ext cx="47928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35%</a:t>
            </a:r>
            <a:r>
              <a:rPr lang="en-US" sz="1200" dirty="0">
                <a:solidFill>
                  <a:srgbClr val="4A5568"/>
                </a:solidFill>
                <a:latin typeface="Inter" pitchFamily="34" charset="0"/>
                <a:ea typeface="Inter" pitchFamily="34" charset="-122"/>
                <a:cs typeface="Inter" pitchFamily="34" charset="-120"/>
              </a:rPr>
              <a:t> Sharpe ratio, return for the risk taken</a:t>
            </a:r>
            <a:endParaRPr lang="en-US" sz="1200" dirty="0"/>
          </a:p>
        </p:txBody>
      </p:sp>
      <p:sp>
        <p:nvSpPr>
          <p:cNvPr id="19" name="Text 17"/>
          <p:cNvSpPr/>
          <p:nvPr/>
        </p:nvSpPr>
        <p:spPr>
          <a:xfrm>
            <a:off x="6461760" y="2923541"/>
            <a:ext cx="47928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25%</a:t>
            </a:r>
            <a:r>
              <a:rPr lang="en-US" sz="1200" dirty="0">
                <a:solidFill>
                  <a:srgbClr val="4A5568"/>
                </a:solidFill>
                <a:latin typeface="Inter" pitchFamily="34" charset="0"/>
                <a:ea typeface="Inter" pitchFamily="34" charset="-122"/>
                <a:cs typeface="Inter" pitchFamily="34" charset="-120"/>
              </a:rPr>
              <a:t> safety, which is 100 minus the risk score</a:t>
            </a:r>
            <a:endParaRPr lang="en-US" sz="1200" dirty="0"/>
          </a:p>
        </p:txBody>
      </p:sp>
      <p:sp>
        <p:nvSpPr>
          <p:cNvPr id="20" name="Text 18"/>
          <p:cNvSpPr/>
          <p:nvPr/>
        </p:nvSpPr>
        <p:spPr>
          <a:xfrm>
            <a:off x="6461760" y="3213100"/>
            <a:ext cx="47928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25%</a:t>
            </a:r>
            <a:r>
              <a:rPr lang="en-US" sz="1200" dirty="0">
                <a:solidFill>
                  <a:srgbClr val="4A5568"/>
                </a:solidFill>
                <a:latin typeface="Inter" pitchFamily="34" charset="0"/>
                <a:ea typeface="Inter" pitchFamily="34" charset="-122"/>
                <a:cs typeface="Inter" pitchFamily="34" charset="-120"/>
              </a:rPr>
              <a:t> trend, from the 50 and 200 day averages</a:t>
            </a:r>
            <a:endParaRPr lang="en-US" sz="1200" dirty="0"/>
          </a:p>
        </p:txBody>
      </p:sp>
      <p:sp>
        <p:nvSpPr>
          <p:cNvPr id="21" name="Text 19"/>
          <p:cNvSpPr/>
          <p:nvPr/>
        </p:nvSpPr>
        <p:spPr>
          <a:xfrm>
            <a:off x="6461760" y="3502661"/>
            <a:ext cx="47928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15%</a:t>
            </a:r>
            <a:r>
              <a:rPr lang="en-US" sz="1200" dirty="0">
                <a:solidFill>
                  <a:srgbClr val="4A5568"/>
                </a:solidFill>
                <a:latin typeface="Inter" pitchFamily="34" charset="0"/>
                <a:ea typeface="Inter" pitchFamily="34" charset="-122"/>
                <a:cs typeface="Inter" pitchFamily="34" charset="-120"/>
              </a:rPr>
              <a:t> momentum, the last six months</a:t>
            </a:r>
            <a:endParaRPr lang="en-US" sz="1200" dirty="0"/>
          </a:p>
        </p:txBody>
      </p:sp>
      <p:sp>
        <p:nvSpPr>
          <p:cNvPr id="22" name="Text 20"/>
          <p:cNvSpPr/>
          <p:nvPr/>
        </p:nvSpPr>
        <p:spPr>
          <a:xfrm>
            <a:off x="6461760" y="3868420"/>
            <a:ext cx="47928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3D"/>
                </a:solidFill>
                <a:latin typeface="Inter" pitchFamily="34" charset="0"/>
                <a:ea typeface="Inter" pitchFamily="34" charset="-122"/>
                <a:cs typeface="Inter" pitchFamily="34" charset="-120"/>
              </a:rPr>
              <a:t>Buy at 60 or more, Sell under 35, otherwise Hold</a:t>
            </a:r>
            <a:endParaRPr lang="en-US" sz="1200" dirty="0"/>
          </a:p>
        </p:txBody>
      </p:sp>
      <p:sp>
        <p:nvSpPr>
          <p:cNvPr id="23" name="Text 21"/>
          <p:cNvSpPr/>
          <p:nvPr/>
        </p:nvSpPr>
        <p:spPr>
          <a:xfrm>
            <a:off x="812800" y="6238239"/>
            <a:ext cx="64783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Weights are judgement calls. Each measure is scaled across the 28 stocks.</a:t>
            </a:r>
            <a:endParaRPr lang="en-US" sz="1200" dirty="0"/>
          </a:p>
        </p:txBody>
      </p:sp>
      <p:sp>
        <p:nvSpPr>
          <p:cNvPr id="24" name="Text 22"/>
          <p:cNvSpPr/>
          <p:nvPr/>
        </p:nvSpPr>
        <p:spPr>
          <a:xfrm>
            <a:off x="11229896" y="6238239"/>
            <a:ext cx="14930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The result: 7 Buy, 12 Hold and 9 Sell</a:t>
            </a:r>
            <a:endParaRPr lang="en-US" sz="2800" dirty="0"/>
          </a:p>
        </p:txBody>
      </p:sp>
      <p:sp>
        <p:nvSpPr>
          <p:cNvPr id="3" name="Shape 1"/>
          <p:cNvSpPr/>
          <p:nvPr/>
        </p:nvSpPr>
        <p:spPr>
          <a:xfrm>
            <a:off x="819150" y="1532889"/>
            <a:ext cx="3373914" cy="4302760"/>
          </a:xfrm>
          <a:prstGeom prst="roundRect">
            <a:avLst>
              <a:gd name="adj" fmla="val 4329"/>
            </a:avLst>
          </a:prstGeom>
          <a:solidFill>
            <a:srgbClr val="FFFFFF"/>
          </a:solidFill>
          <a:ln w="12700">
            <a:solidFill>
              <a:srgbClr val="E3E6EE"/>
            </a:solidFill>
            <a:prstDash val="solid"/>
          </a:ln>
        </p:spPr>
      </p:sp>
      <p:sp>
        <p:nvSpPr>
          <p:cNvPr id="4" name="Text 2"/>
          <p:cNvSpPr/>
          <p:nvPr/>
        </p:nvSpPr>
        <p:spPr>
          <a:xfrm>
            <a:off x="1076960" y="1790700"/>
            <a:ext cx="42548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A78D6"/>
                </a:solidFill>
                <a:latin typeface="Inter" pitchFamily="34" charset="0"/>
                <a:ea typeface="Inter" pitchFamily="34" charset="-122"/>
                <a:cs typeface="Inter" pitchFamily="34" charset="-120"/>
              </a:rPr>
              <a:t>7</a:t>
            </a:r>
            <a:endParaRPr lang="en-US" sz="4800" dirty="0"/>
          </a:p>
        </p:txBody>
      </p:sp>
      <p:sp>
        <p:nvSpPr>
          <p:cNvPr id="5" name="Text 3"/>
          <p:cNvSpPr/>
          <p:nvPr/>
        </p:nvSpPr>
        <p:spPr>
          <a:xfrm>
            <a:off x="1558528" y="2044700"/>
            <a:ext cx="566928"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nter" pitchFamily="34" charset="0"/>
                <a:ea typeface="Inter" pitchFamily="34" charset="-122"/>
                <a:cs typeface="Inter" pitchFamily="34" charset="-120"/>
              </a:rPr>
              <a:t>Buy</a:t>
            </a:r>
            <a:endParaRPr lang="en-US" sz="2000" dirty="0"/>
          </a:p>
        </p:txBody>
      </p:sp>
      <p:sp>
        <p:nvSpPr>
          <p:cNvPr id="6" name="Text 4"/>
          <p:cNvSpPr/>
          <p:nvPr/>
        </p:nvSpPr>
        <p:spPr>
          <a:xfrm>
            <a:off x="1076960" y="2527300"/>
            <a:ext cx="294404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Total score of 60 or more. Strong return for the risk taken.</a:t>
            </a:r>
            <a:endParaRPr lang="en-US" sz="1200" dirty="0"/>
          </a:p>
        </p:txBody>
      </p:sp>
      <p:sp>
        <p:nvSpPr>
          <p:cNvPr id="7" name="Text 5"/>
          <p:cNvSpPr/>
          <p:nvPr/>
        </p:nvSpPr>
        <p:spPr>
          <a:xfrm>
            <a:off x="1076960" y="3096261"/>
            <a:ext cx="2944043"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Inter" pitchFamily="34" charset="0"/>
                <a:ea typeface="Inter" pitchFamily="34" charset="-122"/>
                <a:cs typeface="Inter" pitchFamily="34" charset="-120"/>
              </a:rPr>
              <a:t>ICICI Bank, Bharti Airtel, Sun Pharma, Bajaj Auto, Kotak Bank, Cipla, Nestlé India</a:t>
            </a:r>
            <a:endParaRPr lang="en-US" sz="1200" dirty="0"/>
          </a:p>
        </p:txBody>
      </p:sp>
      <p:sp>
        <p:nvSpPr>
          <p:cNvPr id="8" name="Shape 6"/>
          <p:cNvSpPr/>
          <p:nvPr/>
        </p:nvSpPr>
        <p:spPr>
          <a:xfrm>
            <a:off x="4408964" y="1532889"/>
            <a:ext cx="3373993" cy="4302760"/>
          </a:xfrm>
          <a:prstGeom prst="roundRect">
            <a:avLst>
              <a:gd name="adj" fmla="val 4329"/>
            </a:avLst>
          </a:prstGeom>
          <a:solidFill>
            <a:srgbClr val="FFFFFF"/>
          </a:solidFill>
          <a:ln w="12700">
            <a:solidFill>
              <a:srgbClr val="E3E6EE"/>
            </a:solidFill>
            <a:prstDash val="solid"/>
          </a:ln>
        </p:spPr>
      </p:sp>
      <p:sp>
        <p:nvSpPr>
          <p:cNvPr id="9" name="Text 7"/>
          <p:cNvSpPr/>
          <p:nvPr/>
        </p:nvSpPr>
        <p:spPr>
          <a:xfrm>
            <a:off x="4666774" y="1790700"/>
            <a:ext cx="7738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6F6D68"/>
                </a:solidFill>
                <a:latin typeface="Inter" pitchFamily="34" charset="0"/>
                <a:ea typeface="Inter" pitchFamily="34" charset="-122"/>
                <a:cs typeface="Inter" pitchFamily="34" charset="-120"/>
              </a:rPr>
              <a:t>12</a:t>
            </a:r>
            <a:endParaRPr lang="en-US" sz="4800" dirty="0"/>
          </a:p>
        </p:txBody>
      </p:sp>
      <p:sp>
        <p:nvSpPr>
          <p:cNvPr id="10" name="Text 8"/>
          <p:cNvSpPr/>
          <p:nvPr/>
        </p:nvSpPr>
        <p:spPr>
          <a:xfrm>
            <a:off x="5440601" y="2044700"/>
            <a:ext cx="68284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nter" pitchFamily="34" charset="0"/>
                <a:ea typeface="Inter" pitchFamily="34" charset="-122"/>
                <a:cs typeface="Inter" pitchFamily="34" charset="-120"/>
              </a:rPr>
              <a:t>Hold</a:t>
            </a:r>
            <a:endParaRPr lang="en-US" sz="2000" dirty="0"/>
          </a:p>
        </p:txBody>
      </p:sp>
      <p:sp>
        <p:nvSpPr>
          <p:cNvPr id="11" name="Text 9"/>
          <p:cNvSpPr/>
          <p:nvPr/>
        </p:nvSpPr>
        <p:spPr>
          <a:xfrm>
            <a:off x="4666774" y="2527300"/>
            <a:ext cx="2944124"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Total score from 35 to 60. Mixed signals, so keep watching.</a:t>
            </a:r>
            <a:endParaRPr lang="en-US" sz="1200" dirty="0"/>
          </a:p>
        </p:txBody>
      </p:sp>
      <p:sp>
        <p:nvSpPr>
          <p:cNvPr id="12" name="Text 10"/>
          <p:cNvSpPr/>
          <p:nvPr/>
        </p:nvSpPr>
        <p:spPr>
          <a:xfrm>
            <a:off x="4666774" y="3096261"/>
            <a:ext cx="2944124"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Inter" pitchFamily="34" charset="0"/>
                <a:ea typeface="Inter" pitchFamily="34" charset="-122"/>
                <a:cs typeface="Inter" pitchFamily="34" charset="-120"/>
              </a:rPr>
              <a:t>Examples: M&amp;M, SBI, NTPC, L&amp;T</a:t>
            </a:r>
            <a:endParaRPr lang="en-US" sz="1200" dirty="0"/>
          </a:p>
        </p:txBody>
      </p:sp>
      <p:sp>
        <p:nvSpPr>
          <p:cNvPr id="13" name="Shape 11"/>
          <p:cNvSpPr/>
          <p:nvPr/>
        </p:nvSpPr>
        <p:spPr>
          <a:xfrm>
            <a:off x="7998857" y="1532889"/>
            <a:ext cx="3373993" cy="4302760"/>
          </a:xfrm>
          <a:prstGeom prst="roundRect">
            <a:avLst>
              <a:gd name="adj" fmla="val 4329"/>
            </a:avLst>
          </a:prstGeom>
          <a:solidFill>
            <a:srgbClr val="FFFFFF"/>
          </a:solidFill>
          <a:ln w="12700">
            <a:solidFill>
              <a:srgbClr val="E3E6EE"/>
            </a:solidFill>
            <a:prstDash val="solid"/>
          </a:ln>
        </p:spPr>
      </p:sp>
      <p:sp>
        <p:nvSpPr>
          <p:cNvPr id="14" name="Text 12"/>
          <p:cNvSpPr/>
          <p:nvPr/>
        </p:nvSpPr>
        <p:spPr>
          <a:xfrm>
            <a:off x="8256667" y="1790700"/>
            <a:ext cx="47510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D03B3B"/>
                </a:solidFill>
                <a:latin typeface="Inter" pitchFamily="34" charset="0"/>
                <a:ea typeface="Inter" pitchFamily="34" charset="-122"/>
                <a:cs typeface="Inter" pitchFamily="34" charset="-120"/>
              </a:rPr>
              <a:t>9</a:t>
            </a:r>
            <a:endParaRPr lang="en-US" sz="4800" dirty="0"/>
          </a:p>
        </p:txBody>
      </p:sp>
      <p:sp>
        <p:nvSpPr>
          <p:cNvPr id="15" name="Text 13"/>
          <p:cNvSpPr/>
          <p:nvPr/>
        </p:nvSpPr>
        <p:spPr>
          <a:xfrm>
            <a:off x="8779590" y="2044700"/>
            <a:ext cx="53806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Inter" pitchFamily="34" charset="0"/>
                <a:ea typeface="Inter" pitchFamily="34" charset="-122"/>
                <a:cs typeface="Inter" pitchFamily="34" charset="-120"/>
              </a:rPr>
              <a:t>Sell</a:t>
            </a:r>
            <a:endParaRPr lang="en-US" sz="2000" dirty="0"/>
          </a:p>
        </p:txBody>
      </p:sp>
      <p:sp>
        <p:nvSpPr>
          <p:cNvPr id="16" name="Text 14"/>
          <p:cNvSpPr/>
          <p:nvPr/>
        </p:nvSpPr>
        <p:spPr>
          <a:xfrm>
            <a:off x="8256667" y="2527300"/>
            <a:ext cx="2944124"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Total score under 35. Weak return or a downtrend.</a:t>
            </a:r>
            <a:endParaRPr lang="en-US" sz="1200" dirty="0"/>
          </a:p>
        </p:txBody>
      </p:sp>
      <p:sp>
        <p:nvSpPr>
          <p:cNvPr id="17" name="Text 15"/>
          <p:cNvSpPr/>
          <p:nvPr/>
        </p:nvSpPr>
        <p:spPr>
          <a:xfrm>
            <a:off x="8256667" y="3096261"/>
            <a:ext cx="2944124"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4213D"/>
                </a:solidFill>
                <a:latin typeface="Inter" pitchFamily="34" charset="0"/>
                <a:ea typeface="Inter" pitchFamily="34" charset="-122"/>
                <a:cs typeface="Inter" pitchFamily="34" charset="-120"/>
              </a:rPr>
              <a:t>Examples: TCS, ITC, ONGC, Infosys, Reliance, Wipro</a:t>
            </a:r>
            <a:endParaRPr lang="en-US" sz="1200" dirty="0"/>
          </a:p>
        </p:txBody>
      </p:sp>
      <p:sp>
        <p:nvSpPr>
          <p:cNvPr id="18" name="Text 16"/>
          <p:cNvSpPr/>
          <p:nvPr/>
        </p:nvSpPr>
        <p:spPr>
          <a:xfrm>
            <a:off x="812800" y="6238239"/>
            <a:ext cx="294408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As of 16 Oct 2026, from 28 stocks</a:t>
            </a:r>
            <a:endParaRPr lang="en-US" sz="1200" dirty="0"/>
          </a:p>
        </p:txBody>
      </p:sp>
      <p:sp>
        <p:nvSpPr>
          <p:cNvPr id="19" name="Text 17"/>
          <p:cNvSpPr/>
          <p:nvPr/>
        </p:nvSpPr>
        <p:spPr>
          <a:xfrm>
            <a:off x="11237913" y="6238239"/>
            <a:ext cx="14128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Bharti Airtel, Sun Pharma and ICICI Bank earned 14% to 24% a year at risk scores under 20</a:t>
            </a:r>
            <a:endParaRPr lang="en-US" sz="2800" dirty="0"/>
          </a:p>
        </p:txBody>
      </p:sp>
      <p:sp>
        <p:nvSpPr>
          <p:cNvPr id="3" name="Shape 1"/>
          <p:cNvSpPr/>
          <p:nvPr/>
        </p:nvSpPr>
        <p:spPr>
          <a:xfrm>
            <a:off x="819150" y="1891032"/>
            <a:ext cx="10553700" cy="3898900"/>
          </a:xfrm>
          <a:prstGeom prst="roundRect">
            <a:avLst>
              <a:gd name="adj" fmla="val 3746"/>
            </a:avLst>
          </a:prstGeom>
          <a:solidFill>
            <a:srgbClr val="FCFCFB"/>
          </a:solidFill>
          <a:ln w="12700">
            <a:solidFill>
              <a:srgbClr val="E3E6EE"/>
            </a:solidFill>
            <a:prstDash val="solid"/>
          </a:ln>
        </p:spPr>
      </p:sp>
      <p:pic>
        <p:nvPicPr>
          <p:cNvPr id="4" name="Image 0" descr="Scatter chart of annual return against risk score for 28 stocks, coloured by Buy, Hold and Sell">    </p:cNvPr>
          <p:cNvPicPr>
            <a:picLocks noChangeAspect="1"/>
          </p:cNvPicPr>
          <p:nvPr/>
        </p:nvPicPr>
        <p:blipFill>
          <a:blip r:embed="rId1"/>
          <a:srcRect l="0" r="0" t="0" b="0"/>
          <a:stretch/>
        </p:blipFill>
        <p:spPr>
          <a:xfrm>
            <a:off x="965200" y="1935482"/>
            <a:ext cx="10261600" cy="3810000"/>
          </a:xfrm>
          <a:prstGeom prst="rect">
            <a:avLst/>
          </a:prstGeom>
        </p:spPr>
      </p:pic>
      <p:sp>
        <p:nvSpPr>
          <p:cNvPr id="5" name="Text 2"/>
          <p:cNvSpPr/>
          <p:nvPr/>
        </p:nvSpPr>
        <p:spPr>
          <a:xfrm>
            <a:off x="812800" y="6238239"/>
            <a:ext cx="59062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Five years to 16 Oct 2026. Risk levels are relative to these 28 stocks.</a:t>
            </a:r>
            <a:endParaRPr lang="en-US" sz="1200" dirty="0"/>
          </a:p>
        </p:txBody>
      </p:sp>
      <p:sp>
        <p:nvSpPr>
          <p:cNvPr id="6" name="Text 3"/>
          <p:cNvSpPr/>
          <p:nvPr/>
        </p:nvSpPr>
        <p:spPr>
          <a:xfrm>
            <a:off x="11233865" y="6238239"/>
            <a:ext cx="14533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The seven Buy stocks, ranked by total score</a:t>
            </a:r>
            <a:endParaRPr lang="en-US" sz="2800" dirty="0"/>
          </a:p>
        </p:txBody>
      </p:sp>
      <p:sp>
        <p:nvSpPr>
          <p:cNvPr id="3" name="Shape 1"/>
          <p:cNvSpPr/>
          <p:nvPr/>
        </p:nvSpPr>
        <p:spPr>
          <a:xfrm>
            <a:off x="819150" y="1482089"/>
            <a:ext cx="10553700" cy="3360420"/>
          </a:xfrm>
          <a:prstGeom prst="roundRect">
            <a:avLst>
              <a:gd name="adj" fmla="val 4346"/>
            </a:avLst>
          </a:prstGeom>
          <a:solidFill>
            <a:srgbClr val="FFFFFF"/>
          </a:solidFill>
          <a:ln w="12700">
            <a:solidFill>
              <a:srgbClr val="E3E6EE"/>
            </a:solidFill>
            <a:prstDash val="solid"/>
          </a:ln>
        </p:spPr>
      </p:sp>
      <p:sp>
        <p:nvSpPr>
          <p:cNvPr id="4" name="Shape 2"/>
          <p:cNvSpPr/>
          <p:nvPr/>
        </p:nvSpPr>
        <p:spPr>
          <a:xfrm>
            <a:off x="822960" y="1936750"/>
            <a:ext cx="10546080" cy="0"/>
          </a:xfrm>
          <a:prstGeom prst="line">
            <a:avLst/>
          </a:prstGeom>
          <a:noFill/>
          <a:ln w="12700">
            <a:solidFill>
              <a:srgbClr val="E3E6EE"/>
            </a:solidFill>
            <a:prstDash val="solid"/>
          </a:ln>
        </p:spPr>
      </p:sp>
      <p:sp>
        <p:nvSpPr>
          <p:cNvPr id="5" name="Text 3"/>
          <p:cNvSpPr/>
          <p:nvPr/>
        </p:nvSpPr>
        <p:spPr>
          <a:xfrm>
            <a:off x="1026160" y="1628139"/>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Stock</a:t>
            </a:r>
            <a:endParaRPr lang="en-US" sz="1200" dirty="0"/>
          </a:p>
        </p:txBody>
      </p:sp>
      <p:sp>
        <p:nvSpPr>
          <p:cNvPr id="6" name="Text 4"/>
          <p:cNvSpPr/>
          <p:nvPr/>
        </p:nvSpPr>
        <p:spPr>
          <a:xfrm>
            <a:off x="3185160" y="1628139"/>
            <a:ext cx="170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Sector</a:t>
            </a:r>
            <a:endParaRPr lang="en-US" sz="1200" dirty="0"/>
          </a:p>
        </p:txBody>
      </p:sp>
      <p:sp>
        <p:nvSpPr>
          <p:cNvPr id="7" name="Text 5"/>
          <p:cNvSpPr/>
          <p:nvPr/>
        </p:nvSpPr>
        <p:spPr>
          <a:xfrm>
            <a:off x="4836160" y="1628139"/>
            <a:ext cx="170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Annual return</a:t>
            </a:r>
            <a:endParaRPr lang="en-US" sz="1200" dirty="0"/>
          </a:p>
        </p:txBody>
      </p:sp>
      <p:sp>
        <p:nvSpPr>
          <p:cNvPr id="8" name="Text 6"/>
          <p:cNvSpPr/>
          <p:nvPr/>
        </p:nvSpPr>
        <p:spPr>
          <a:xfrm>
            <a:off x="6487160" y="1628139"/>
            <a:ext cx="1574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Risk level</a:t>
            </a:r>
            <a:endParaRPr lang="en-US" sz="1200" dirty="0"/>
          </a:p>
        </p:txBody>
      </p:sp>
      <p:sp>
        <p:nvSpPr>
          <p:cNvPr id="9" name="Text 7"/>
          <p:cNvSpPr/>
          <p:nvPr/>
        </p:nvSpPr>
        <p:spPr>
          <a:xfrm>
            <a:off x="8011160" y="1628139"/>
            <a:ext cx="1701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Trend</a:t>
            </a:r>
            <a:endParaRPr lang="en-US" sz="1200" dirty="0"/>
          </a:p>
        </p:txBody>
      </p:sp>
      <p:sp>
        <p:nvSpPr>
          <p:cNvPr id="10" name="Text 8"/>
          <p:cNvSpPr/>
          <p:nvPr/>
        </p:nvSpPr>
        <p:spPr>
          <a:xfrm>
            <a:off x="9662160" y="1628139"/>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Total score</a:t>
            </a:r>
            <a:endParaRPr lang="en-US" sz="1200" dirty="0"/>
          </a:p>
        </p:txBody>
      </p:sp>
      <p:sp>
        <p:nvSpPr>
          <p:cNvPr id="11" name="Shape 9"/>
          <p:cNvSpPr/>
          <p:nvPr/>
        </p:nvSpPr>
        <p:spPr>
          <a:xfrm>
            <a:off x="822960" y="2346325"/>
            <a:ext cx="10546080" cy="0"/>
          </a:xfrm>
          <a:prstGeom prst="line">
            <a:avLst/>
          </a:prstGeom>
          <a:noFill/>
          <a:ln w="6350">
            <a:solidFill>
              <a:srgbClr val="E3E6EE"/>
            </a:solidFill>
            <a:prstDash val="solid"/>
          </a:ln>
        </p:spPr>
      </p:sp>
      <p:sp>
        <p:nvSpPr>
          <p:cNvPr id="12" name="Text 10"/>
          <p:cNvSpPr/>
          <p:nvPr/>
        </p:nvSpPr>
        <p:spPr>
          <a:xfrm>
            <a:off x="1026160" y="203708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ICICI Bank</a:t>
            </a:r>
            <a:endParaRPr lang="en-US" sz="1200" dirty="0"/>
          </a:p>
        </p:txBody>
      </p:sp>
      <p:sp>
        <p:nvSpPr>
          <p:cNvPr id="13" name="Text 11"/>
          <p:cNvSpPr/>
          <p:nvPr/>
        </p:nvSpPr>
        <p:spPr>
          <a:xfrm>
            <a:off x="3185160" y="20370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Banking</a:t>
            </a:r>
            <a:endParaRPr lang="en-US" sz="1200" dirty="0"/>
          </a:p>
        </p:txBody>
      </p:sp>
      <p:sp>
        <p:nvSpPr>
          <p:cNvPr id="14" name="Text 12"/>
          <p:cNvSpPr/>
          <p:nvPr/>
        </p:nvSpPr>
        <p:spPr>
          <a:xfrm>
            <a:off x="4836160" y="20370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14.3%</a:t>
            </a:r>
            <a:endParaRPr lang="en-US" sz="1200" dirty="0"/>
          </a:p>
        </p:txBody>
      </p:sp>
      <p:sp>
        <p:nvSpPr>
          <p:cNvPr id="15" name="Text 13"/>
          <p:cNvSpPr/>
          <p:nvPr/>
        </p:nvSpPr>
        <p:spPr>
          <a:xfrm>
            <a:off x="6487160" y="2037082"/>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Low</a:t>
            </a:r>
            <a:endParaRPr lang="en-US" sz="1200" dirty="0"/>
          </a:p>
        </p:txBody>
      </p:sp>
      <p:sp>
        <p:nvSpPr>
          <p:cNvPr id="16" name="Text 14"/>
          <p:cNvSpPr/>
          <p:nvPr/>
        </p:nvSpPr>
        <p:spPr>
          <a:xfrm>
            <a:off x="8011160" y="20370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Uptrend</a:t>
            </a:r>
            <a:endParaRPr lang="en-US" sz="1200" dirty="0"/>
          </a:p>
        </p:txBody>
      </p:sp>
      <p:sp>
        <p:nvSpPr>
          <p:cNvPr id="17" name="Text 15"/>
          <p:cNvSpPr/>
          <p:nvPr/>
        </p:nvSpPr>
        <p:spPr>
          <a:xfrm>
            <a:off x="9662160" y="2037082"/>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80.6</a:t>
            </a:r>
            <a:endParaRPr lang="en-US" sz="1200" dirty="0"/>
          </a:p>
        </p:txBody>
      </p:sp>
      <p:sp>
        <p:nvSpPr>
          <p:cNvPr id="18" name="Shape 16"/>
          <p:cNvSpPr/>
          <p:nvPr/>
        </p:nvSpPr>
        <p:spPr>
          <a:xfrm>
            <a:off x="822960" y="2752725"/>
            <a:ext cx="10546080" cy="0"/>
          </a:xfrm>
          <a:prstGeom prst="line">
            <a:avLst/>
          </a:prstGeom>
          <a:noFill/>
          <a:ln w="6350">
            <a:solidFill>
              <a:srgbClr val="E3E6EE"/>
            </a:solidFill>
            <a:prstDash val="solid"/>
          </a:ln>
        </p:spPr>
      </p:sp>
      <p:sp>
        <p:nvSpPr>
          <p:cNvPr id="19" name="Text 17"/>
          <p:cNvSpPr/>
          <p:nvPr/>
        </p:nvSpPr>
        <p:spPr>
          <a:xfrm>
            <a:off x="1026160" y="244348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Bharti Airtel</a:t>
            </a:r>
            <a:endParaRPr lang="en-US" sz="1200" dirty="0"/>
          </a:p>
        </p:txBody>
      </p:sp>
      <p:sp>
        <p:nvSpPr>
          <p:cNvPr id="20" name="Text 18"/>
          <p:cNvSpPr/>
          <p:nvPr/>
        </p:nvSpPr>
        <p:spPr>
          <a:xfrm>
            <a:off x="3185160" y="24434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Infra / others</a:t>
            </a:r>
            <a:endParaRPr lang="en-US" sz="1200" dirty="0"/>
          </a:p>
        </p:txBody>
      </p:sp>
      <p:sp>
        <p:nvSpPr>
          <p:cNvPr id="21" name="Text 19"/>
          <p:cNvSpPr/>
          <p:nvPr/>
        </p:nvSpPr>
        <p:spPr>
          <a:xfrm>
            <a:off x="4836160" y="24434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23.8%</a:t>
            </a:r>
            <a:endParaRPr lang="en-US" sz="1200" dirty="0"/>
          </a:p>
        </p:txBody>
      </p:sp>
      <p:sp>
        <p:nvSpPr>
          <p:cNvPr id="22" name="Text 20"/>
          <p:cNvSpPr/>
          <p:nvPr/>
        </p:nvSpPr>
        <p:spPr>
          <a:xfrm>
            <a:off x="6487160" y="2443482"/>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Low</a:t>
            </a:r>
            <a:endParaRPr lang="en-US" sz="1200" dirty="0"/>
          </a:p>
        </p:txBody>
      </p:sp>
      <p:sp>
        <p:nvSpPr>
          <p:cNvPr id="23" name="Text 21"/>
          <p:cNvSpPr/>
          <p:nvPr/>
        </p:nvSpPr>
        <p:spPr>
          <a:xfrm>
            <a:off x="8011160" y="24434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Sideways</a:t>
            </a:r>
            <a:endParaRPr lang="en-US" sz="1200" dirty="0"/>
          </a:p>
        </p:txBody>
      </p:sp>
      <p:sp>
        <p:nvSpPr>
          <p:cNvPr id="24" name="Text 22"/>
          <p:cNvSpPr/>
          <p:nvPr/>
        </p:nvSpPr>
        <p:spPr>
          <a:xfrm>
            <a:off x="9662160" y="2443482"/>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79.0</a:t>
            </a:r>
            <a:endParaRPr lang="en-US" sz="1200" dirty="0"/>
          </a:p>
        </p:txBody>
      </p:sp>
      <p:sp>
        <p:nvSpPr>
          <p:cNvPr id="25" name="Shape 23"/>
          <p:cNvSpPr/>
          <p:nvPr/>
        </p:nvSpPr>
        <p:spPr>
          <a:xfrm>
            <a:off x="822960" y="3159125"/>
            <a:ext cx="10546080" cy="0"/>
          </a:xfrm>
          <a:prstGeom prst="line">
            <a:avLst/>
          </a:prstGeom>
          <a:noFill/>
          <a:ln w="6350">
            <a:solidFill>
              <a:srgbClr val="E3E6EE"/>
            </a:solidFill>
            <a:prstDash val="solid"/>
          </a:ln>
        </p:spPr>
      </p:sp>
      <p:sp>
        <p:nvSpPr>
          <p:cNvPr id="26" name="Text 24"/>
          <p:cNvSpPr/>
          <p:nvPr/>
        </p:nvSpPr>
        <p:spPr>
          <a:xfrm>
            <a:off x="1026160" y="284988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Sun Pharma</a:t>
            </a:r>
            <a:endParaRPr lang="en-US" sz="1200" dirty="0"/>
          </a:p>
        </p:txBody>
      </p:sp>
      <p:sp>
        <p:nvSpPr>
          <p:cNvPr id="27" name="Text 25"/>
          <p:cNvSpPr/>
          <p:nvPr/>
        </p:nvSpPr>
        <p:spPr>
          <a:xfrm>
            <a:off x="3185160" y="28498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Pharma</a:t>
            </a:r>
            <a:endParaRPr lang="en-US" sz="1200" dirty="0"/>
          </a:p>
        </p:txBody>
      </p:sp>
      <p:sp>
        <p:nvSpPr>
          <p:cNvPr id="28" name="Text 26"/>
          <p:cNvSpPr/>
          <p:nvPr/>
        </p:nvSpPr>
        <p:spPr>
          <a:xfrm>
            <a:off x="4836160" y="28498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17.2%</a:t>
            </a:r>
            <a:endParaRPr lang="en-US" sz="1200" dirty="0"/>
          </a:p>
        </p:txBody>
      </p:sp>
      <p:sp>
        <p:nvSpPr>
          <p:cNvPr id="29" name="Text 27"/>
          <p:cNvSpPr/>
          <p:nvPr/>
        </p:nvSpPr>
        <p:spPr>
          <a:xfrm>
            <a:off x="6487160" y="2849882"/>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Low</a:t>
            </a:r>
            <a:endParaRPr lang="en-US" sz="1200" dirty="0"/>
          </a:p>
        </p:txBody>
      </p:sp>
      <p:sp>
        <p:nvSpPr>
          <p:cNvPr id="30" name="Text 28"/>
          <p:cNvSpPr/>
          <p:nvPr/>
        </p:nvSpPr>
        <p:spPr>
          <a:xfrm>
            <a:off x="8011160" y="28498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Sideways</a:t>
            </a:r>
            <a:endParaRPr lang="en-US" sz="1200" dirty="0"/>
          </a:p>
        </p:txBody>
      </p:sp>
      <p:sp>
        <p:nvSpPr>
          <p:cNvPr id="31" name="Text 29"/>
          <p:cNvSpPr/>
          <p:nvPr/>
        </p:nvSpPr>
        <p:spPr>
          <a:xfrm>
            <a:off x="9662160" y="2849882"/>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75.4</a:t>
            </a:r>
            <a:endParaRPr lang="en-US" sz="1200" dirty="0"/>
          </a:p>
        </p:txBody>
      </p:sp>
      <p:sp>
        <p:nvSpPr>
          <p:cNvPr id="32" name="Shape 30"/>
          <p:cNvSpPr/>
          <p:nvPr/>
        </p:nvSpPr>
        <p:spPr>
          <a:xfrm>
            <a:off x="822960" y="3565525"/>
            <a:ext cx="10546080" cy="0"/>
          </a:xfrm>
          <a:prstGeom prst="line">
            <a:avLst/>
          </a:prstGeom>
          <a:noFill/>
          <a:ln w="6350">
            <a:solidFill>
              <a:srgbClr val="E3E6EE"/>
            </a:solidFill>
            <a:prstDash val="solid"/>
          </a:ln>
        </p:spPr>
      </p:sp>
      <p:sp>
        <p:nvSpPr>
          <p:cNvPr id="33" name="Text 31"/>
          <p:cNvSpPr/>
          <p:nvPr/>
        </p:nvSpPr>
        <p:spPr>
          <a:xfrm>
            <a:off x="1026160" y="325628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Bajaj Auto</a:t>
            </a:r>
            <a:endParaRPr lang="en-US" sz="1200" dirty="0"/>
          </a:p>
        </p:txBody>
      </p:sp>
      <p:sp>
        <p:nvSpPr>
          <p:cNvPr id="34" name="Text 32"/>
          <p:cNvSpPr/>
          <p:nvPr/>
        </p:nvSpPr>
        <p:spPr>
          <a:xfrm>
            <a:off x="3185160" y="32562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Auto</a:t>
            </a:r>
            <a:endParaRPr lang="en-US" sz="1200" dirty="0"/>
          </a:p>
        </p:txBody>
      </p:sp>
      <p:sp>
        <p:nvSpPr>
          <p:cNvPr id="35" name="Text 33"/>
          <p:cNvSpPr/>
          <p:nvPr/>
        </p:nvSpPr>
        <p:spPr>
          <a:xfrm>
            <a:off x="4836160" y="32562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24.4%</a:t>
            </a:r>
            <a:endParaRPr lang="en-US" sz="1200" dirty="0"/>
          </a:p>
        </p:txBody>
      </p:sp>
      <p:sp>
        <p:nvSpPr>
          <p:cNvPr id="36" name="Text 34"/>
          <p:cNvSpPr/>
          <p:nvPr/>
        </p:nvSpPr>
        <p:spPr>
          <a:xfrm>
            <a:off x="6487160" y="3256282"/>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Medium</a:t>
            </a:r>
            <a:endParaRPr lang="en-US" sz="1200" dirty="0"/>
          </a:p>
        </p:txBody>
      </p:sp>
      <p:sp>
        <p:nvSpPr>
          <p:cNvPr id="37" name="Text 35"/>
          <p:cNvSpPr/>
          <p:nvPr/>
        </p:nvSpPr>
        <p:spPr>
          <a:xfrm>
            <a:off x="8011160" y="32562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Sideways</a:t>
            </a:r>
            <a:endParaRPr lang="en-US" sz="1200" dirty="0"/>
          </a:p>
        </p:txBody>
      </p:sp>
      <p:sp>
        <p:nvSpPr>
          <p:cNvPr id="38" name="Text 36"/>
          <p:cNvSpPr/>
          <p:nvPr/>
        </p:nvSpPr>
        <p:spPr>
          <a:xfrm>
            <a:off x="9662160" y="3256282"/>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69.5</a:t>
            </a:r>
            <a:endParaRPr lang="en-US" sz="1200" dirty="0"/>
          </a:p>
        </p:txBody>
      </p:sp>
      <p:sp>
        <p:nvSpPr>
          <p:cNvPr id="39" name="Shape 37"/>
          <p:cNvSpPr/>
          <p:nvPr/>
        </p:nvSpPr>
        <p:spPr>
          <a:xfrm>
            <a:off x="822960" y="3971925"/>
            <a:ext cx="10546080" cy="0"/>
          </a:xfrm>
          <a:prstGeom prst="line">
            <a:avLst/>
          </a:prstGeom>
          <a:noFill/>
          <a:ln w="6350">
            <a:solidFill>
              <a:srgbClr val="E3E6EE"/>
            </a:solidFill>
            <a:prstDash val="solid"/>
          </a:ln>
        </p:spPr>
      </p:sp>
      <p:sp>
        <p:nvSpPr>
          <p:cNvPr id="40" name="Text 38"/>
          <p:cNvSpPr/>
          <p:nvPr/>
        </p:nvSpPr>
        <p:spPr>
          <a:xfrm>
            <a:off x="1026160" y="366268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Kotak Bank</a:t>
            </a:r>
            <a:endParaRPr lang="en-US" sz="1200" dirty="0"/>
          </a:p>
        </p:txBody>
      </p:sp>
      <p:sp>
        <p:nvSpPr>
          <p:cNvPr id="41" name="Text 39"/>
          <p:cNvSpPr/>
          <p:nvPr/>
        </p:nvSpPr>
        <p:spPr>
          <a:xfrm>
            <a:off x="3185160" y="36626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Banking</a:t>
            </a:r>
            <a:endParaRPr lang="en-US" sz="1200" dirty="0"/>
          </a:p>
        </p:txBody>
      </p:sp>
      <p:sp>
        <p:nvSpPr>
          <p:cNvPr id="42" name="Text 40"/>
          <p:cNvSpPr/>
          <p:nvPr/>
        </p:nvSpPr>
        <p:spPr>
          <a:xfrm>
            <a:off x="4836160" y="36626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2.3%</a:t>
            </a:r>
            <a:endParaRPr lang="en-US" sz="1200" dirty="0"/>
          </a:p>
        </p:txBody>
      </p:sp>
      <p:sp>
        <p:nvSpPr>
          <p:cNvPr id="43" name="Text 41"/>
          <p:cNvSpPr/>
          <p:nvPr/>
        </p:nvSpPr>
        <p:spPr>
          <a:xfrm>
            <a:off x="6487160" y="3662682"/>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Medium</a:t>
            </a:r>
            <a:endParaRPr lang="en-US" sz="1200" dirty="0"/>
          </a:p>
        </p:txBody>
      </p:sp>
      <p:sp>
        <p:nvSpPr>
          <p:cNvPr id="44" name="Text 42"/>
          <p:cNvSpPr/>
          <p:nvPr/>
        </p:nvSpPr>
        <p:spPr>
          <a:xfrm>
            <a:off x="8011160" y="36626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Uptrend</a:t>
            </a:r>
            <a:endParaRPr lang="en-US" sz="1200" dirty="0"/>
          </a:p>
        </p:txBody>
      </p:sp>
      <p:sp>
        <p:nvSpPr>
          <p:cNvPr id="45" name="Text 43"/>
          <p:cNvSpPr/>
          <p:nvPr/>
        </p:nvSpPr>
        <p:spPr>
          <a:xfrm>
            <a:off x="9662160" y="3662682"/>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67.6</a:t>
            </a:r>
            <a:endParaRPr lang="en-US" sz="1200" dirty="0"/>
          </a:p>
        </p:txBody>
      </p:sp>
      <p:sp>
        <p:nvSpPr>
          <p:cNvPr id="46" name="Shape 44"/>
          <p:cNvSpPr/>
          <p:nvPr/>
        </p:nvSpPr>
        <p:spPr>
          <a:xfrm>
            <a:off x="822960" y="4378325"/>
            <a:ext cx="10546080" cy="0"/>
          </a:xfrm>
          <a:prstGeom prst="line">
            <a:avLst/>
          </a:prstGeom>
          <a:noFill/>
          <a:ln w="6350">
            <a:solidFill>
              <a:srgbClr val="E3E6EE"/>
            </a:solidFill>
            <a:prstDash val="solid"/>
          </a:ln>
        </p:spPr>
      </p:sp>
      <p:sp>
        <p:nvSpPr>
          <p:cNvPr id="47" name="Text 45"/>
          <p:cNvSpPr/>
          <p:nvPr/>
        </p:nvSpPr>
        <p:spPr>
          <a:xfrm>
            <a:off x="1026160" y="4069082"/>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Cipla</a:t>
            </a:r>
            <a:endParaRPr lang="en-US" sz="1200" dirty="0"/>
          </a:p>
        </p:txBody>
      </p:sp>
      <p:sp>
        <p:nvSpPr>
          <p:cNvPr id="48" name="Text 46"/>
          <p:cNvSpPr/>
          <p:nvPr/>
        </p:nvSpPr>
        <p:spPr>
          <a:xfrm>
            <a:off x="3185160" y="40690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Pharma</a:t>
            </a:r>
            <a:endParaRPr lang="en-US" sz="1200" dirty="0"/>
          </a:p>
        </p:txBody>
      </p:sp>
      <p:sp>
        <p:nvSpPr>
          <p:cNvPr id="49" name="Text 47"/>
          <p:cNvSpPr/>
          <p:nvPr/>
        </p:nvSpPr>
        <p:spPr>
          <a:xfrm>
            <a:off x="4836160" y="40690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8.9%</a:t>
            </a:r>
            <a:endParaRPr lang="en-US" sz="1200" dirty="0"/>
          </a:p>
        </p:txBody>
      </p:sp>
      <p:sp>
        <p:nvSpPr>
          <p:cNvPr id="50" name="Text 48"/>
          <p:cNvSpPr/>
          <p:nvPr/>
        </p:nvSpPr>
        <p:spPr>
          <a:xfrm>
            <a:off x="6487160" y="4069082"/>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Low</a:t>
            </a:r>
            <a:endParaRPr lang="en-US" sz="1200" dirty="0"/>
          </a:p>
        </p:txBody>
      </p:sp>
      <p:sp>
        <p:nvSpPr>
          <p:cNvPr id="51" name="Text 49"/>
          <p:cNvSpPr/>
          <p:nvPr/>
        </p:nvSpPr>
        <p:spPr>
          <a:xfrm>
            <a:off x="8011160" y="4069082"/>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Sideways</a:t>
            </a:r>
            <a:endParaRPr lang="en-US" sz="1200" dirty="0"/>
          </a:p>
        </p:txBody>
      </p:sp>
      <p:sp>
        <p:nvSpPr>
          <p:cNvPr id="52" name="Text 50"/>
          <p:cNvSpPr/>
          <p:nvPr/>
        </p:nvSpPr>
        <p:spPr>
          <a:xfrm>
            <a:off x="9662160" y="4069082"/>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62.0</a:t>
            </a:r>
            <a:endParaRPr lang="en-US" sz="1200" dirty="0"/>
          </a:p>
        </p:txBody>
      </p:sp>
      <p:sp>
        <p:nvSpPr>
          <p:cNvPr id="53" name="Text 51"/>
          <p:cNvSpPr/>
          <p:nvPr/>
        </p:nvSpPr>
        <p:spPr>
          <a:xfrm>
            <a:off x="1026160" y="4478021"/>
            <a:ext cx="222377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Nestlé India</a:t>
            </a:r>
            <a:endParaRPr lang="en-US" sz="1200" dirty="0"/>
          </a:p>
        </p:txBody>
      </p:sp>
      <p:sp>
        <p:nvSpPr>
          <p:cNvPr id="54" name="Text 52"/>
          <p:cNvSpPr/>
          <p:nvPr/>
        </p:nvSpPr>
        <p:spPr>
          <a:xfrm>
            <a:off x="3185160" y="4478021"/>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FMCG</a:t>
            </a:r>
            <a:endParaRPr lang="en-US" sz="1200" dirty="0"/>
          </a:p>
        </p:txBody>
      </p:sp>
      <p:sp>
        <p:nvSpPr>
          <p:cNvPr id="55" name="Text 53"/>
          <p:cNvSpPr/>
          <p:nvPr/>
        </p:nvSpPr>
        <p:spPr>
          <a:xfrm>
            <a:off x="4836160" y="4478021"/>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6.6%</a:t>
            </a:r>
            <a:endParaRPr lang="en-US" sz="1200" dirty="0"/>
          </a:p>
        </p:txBody>
      </p:sp>
      <p:sp>
        <p:nvSpPr>
          <p:cNvPr id="56" name="Text 54"/>
          <p:cNvSpPr/>
          <p:nvPr/>
        </p:nvSpPr>
        <p:spPr>
          <a:xfrm>
            <a:off x="6487160" y="4478021"/>
            <a:ext cx="157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Low</a:t>
            </a:r>
            <a:endParaRPr lang="en-US" sz="1200" dirty="0"/>
          </a:p>
        </p:txBody>
      </p:sp>
      <p:sp>
        <p:nvSpPr>
          <p:cNvPr id="57" name="Text 55"/>
          <p:cNvSpPr/>
          <p:nvPr/>
        </p:nvSpPr>
        <p:spPr>
          <a:xfrm>
            <a:off x="8011160" y="4478021"/>
            <a:ext cx="1701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Sideways</a:t>
            </a:r>
            <a:endParaRPr lang="en-US" sz="1200" dirty="0"/>
          </a:p>
        </p:txBody>
      </p:sp>
      <p:sp>
        <p:nvSpPr>
          <p:cNvPr id="58" name="Text 56"/>
          <p:cNvSpPr/>
          <p:nvPr/>
        </p:nvSpPr>
        <p:spPr>
          <a:xfrm>
            <a:off x="9662160" y="4478021"/>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nter" pitchFamily="34" charset="0"/>
                <a:ea typeface="Inter" pitchFamily="34" charset="-122"/>
                <a:cs typeface="Inter" pitchFamily="34" charset="-120"/>
              </a:rPr>
              <a:t>60.1</a:t>
            </a:r>
            <a:endParaRPr lang="en-US" sz="1200" dirty="0"/>
          </a:p>
        </p:txBody>
      </p:sp>
      <p:sp>
        <p:nvSpPr>
          <p:cNvPr id="59" name="Text 57"/>
          <p:cNvSpPr/>
          <p:nvPr/>
        </p:nvSpPr>
        <p:spPr>
          <a:xfrm>
            <a:off x="812800" y="5102861"/>
            <a:ext cx="10883392"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Kotak Bank earned only 2.3% a year. It is a Buy because it is in an uptrend with strong six-month momentum, which shows the score is not return alone.</a:t>
            </a:r>
            <a:endParaRPr lang="en-US" sz="1200" dirty="0"/>
          </a:p>
        </p:txBody>
      </p:sp>
      <p:sp>
        <p:nvSpPr>
          <p:cNvPr id="60" name="Text 58"/>
          <p:cNvSpPr/>
          <p:nvPr/>
        </p:nvSpPr>
        <p:spPr>
          <a:xfrm>
            <a:off x="812800" y="6238239"/>
            <a:ext cx="32453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Annual return is CAGR over five years</a:t>
            </a:r>
            <a:endParaRPr lang="en-US" sz="1200" dirty="0"/>
          </a:p>
        </p:txBody>
      </p:sp>
      <p:sp>
        <p:nvSpPr>
          <p:cNvPr id="61" name="Text 59"/>
          <p:cNvSpPr/>
          <p:nvPr/>
        </p:nvSpPr>
        <p:spPr>
          <a:xfrm>
            <a:off x="11242119" y="6238239"/>
            <a:ext cx="137081"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The market is in a weak patch: 13 stocks are in a downtrend and only 2 in an uptrend</a:t>
            </a:r>
            <a:endParaRPr lang="en-US" sz="2800" dirty="0"/>
          </a:p>
        </p:txBody>
      </p:sp>
      <p:sp>
        <p:nvSpPr>
          <p:cNvPr id="3" name="Shape 1"/>
          <p:cNvSpPr/>
          <p:nvPr/>
        </p:nvSpPr>
        <p:spPr>
          <a:xfrm>
            <a:off x="819150" y="1891032"/>
            <a:ext cx="3407807" cy="871220"/>
          </a:xfrm>
          <a:prstGeom prst="roundRect">
            <a:avLst>
              <a:gd name="adj" fmla="val 16764"/>
            </a:avLst>
          </a:prstGeom>
          <a:solidFill>
            <a:srgbClr val="FFFFFF"/>
          </a:solidFill>
          <a:ln w="12700">
            <a:solidFill>
              <a:srgbClr val="E3E6EE"/>
            </a:solidFill>
            <a:prstDash val="solid"/>
          </a:ln>
        </p:spPr>
      </p:sp>
      <p:sp>
        <p:nvSpPr>
          <p:cNvPr id="4" name="Text 2"/>
          <p:cNvSpPr/>
          <p:nvPr/>
        </p:nvSpPr>
        <p:spPr>
          <a:xfrm>
            <a:off x="1026160" y="2072639"/>
            <a:ext cx="38404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2A78D6"/>
                </a:solidFill>
                <a:latin typeface="Inter" pitchFamily="34" charset="0"/>
                <a:ea typeface="Inter" pitchFamily="34" charset="-122"/>
                <a:cs typeface="Inter" pitchFamily="34" charset="-120"/>
              </a:rPr>
              <a:t>2</a:t>
            </a:r>
            <a:endParaRPr lang="en-US" sz="4000" dirty="0"/>
          </a:p>
        </p:txBody>
      </p:sp>
      <p:sp>
        <p:nvSpPr>
          <p:cNvPr id="5" name="Text 3"/>
          <p:cNvSpPr/>
          <p:nvPr/>
        </p:nvSpPr>
        <p:spPr>
          <a:xfrm>
            <a:off x="1498600" y="2296161"/>
            <a:ext cx="954691"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Uptrend</a:t>
            </a:r>
            <a:endParaRPr lang="en-US" sz="1600" dirty="0"/>
          </a:p>
        </p:txBody>
      </p:sp>
      <p:sp>
        <p:nvSpPr>
          <p:cNvPr id="6" name="Shape 4"/>
          <p:cNvSpPr/>
          <p:nvPr/>
        </p:nvSpPr>
        <p:spPr>
          <a:xfrm>
            <a:off x="4392057" y="1891032"/>
            <a:ext cx="3407886" cy="871220"/>
          </a:xfrm>
          <a:prstGeom prst="roundRect">
            <a:avLst>
              <a:gd name="adj" fmla="val 16764"/>
            </a:avLst>
          </a:prstGeom>
          <a:solidFill>
            <a:srgbClr val="FFFFFF"/>
          </a:solidFill>
          <a:ln w="12700">
            <a:solidFill>
              <a:srgbClr val="E3E6EE"/>
            </a:solidFill>
            <a:prstDash val="solid"/>
          </a:ln>
        </p:spPr>
      </p:sp>
      <p:sp>
        <p:nvSpPr>
          <p:cNvPr id="7" name="Text 5"/>
          <p:cNvSpPr/>
          <p:nvPr/>
        </p:nvSpPr>
        <p:spPr>
          <a:xfrm>
            <a:off x="4599067" y="2072639"/>
            <a:ext cx="65636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6F6D68"/>
                </a:solidFill>
                <a:latin typeface="Inter" pitchFamily="34" charset="0"/>
                <a:ea typeface="Inter" pitchFamily="34" charset="-122"/>
                <a:cs typeface="Inter" pitchFamily="34" charset="-120"/>
              </a:rPr>
              <a:t>13</a:t>
            </a:r>
            <a:endParaRPr lang="en-US" sz="4000" dirty="0"/>
          </a:p>
        </p:txBody>
      </p:sp>
      <p:sp>
        <p:nvSpPr>
          <p:cNvPr id="8" name="Text 6"/>
          <p:cNvSpPr/>
          <p:nvPr/>
        </p:nvSpPr>
        <p:spPr>
          <a:xfrm>
            <a:off x="5298440" y="2296161"/>
            <a:ext cx="1132808"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Sideways</a:t>
            </a:r>
            <a:endParaRPr lang="en-US" sz="1600" dirty="0"/>
          </a:p>
        </p:txBody>
      </p:sp>
      <p:sp>
        <p:nvSpPr>
          <p:cNvPr id="9" name="Shape 7"/>
          <p:cNvSpPr/>
          <p:nvPr/>
        </p:nvSpPr>
        <p:spPr>
          <a:xfrm>
            <a:off x="7965043" y="1891032"/>
            <a:ext cx="3407807" cy="871220"/>
          </a:xfrm>
          <a:prstGeom prst="roundRect">
            <a:avLst>
              <a:gd name="adj" fmla="val 16764"/>
            </a:avLst>
          </a:prstGeom>
          <a:solidFill>
            <a:srgbClr val="FFFFFF"/>
          </a:solidFill>
          <a:ln w="12700">
            <a:solidFill>
              <a:srgbClr val="E3E6EE"/>
            </a:solidFill>
            <a:prstDash val="solid"/>
          </a:ln>
        </p:spPr>
      </p:sp>
      <p:sp>
        <p:nvSpPr>
          <p:cNvPr id="10" name="Text 8"/>
          <p:cNvSpPr/>
          <p:nvPr/>
        </p:nvSpPr>
        <p:spPr>
          <a:xfrm>
            <a:off x="8172053" y="2072639"/>
            <a:ext cx="656368"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D03B3B"/>
                </a:solidFill>
                <a:latin typeface="Inter" pitchFamily="34" charset="0"/>
                <a:ea typeface="Inter" pitchFamily="34" charset="-122"/>
                <a:cs typeface="Inter" pitchFamily="34" charset="-120"/>
              </a:rPr>
              <a:t>13</a:t>
            </a:r>
            <a:endParaRPr lang="en-US" sz="4000" dirty="0"/>
          </a:p>
        </p:txBody>
      </p:sp>
      <p:sp>
        <p:nvSpPr>
          <p:cNvPr id="11" name="Text 9"/>
          <p:cNvSpPr/>
          <p:nvPr/>
        </p:nvSpPr>
        <p:spPr>
          <a:xfrm>
            <a:off x="8871427" y="2296161"/>
            <a:ext cx="1297876"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Downtrend</a:t>
            </a:r>
            <a:endParaRPr lang="en-US" sz="1600" dirty="0"/>
          </a:p>
        </p:txBody>
      </p:sp>
      <p:sp>
        <p:nvSpPr>
          <p:cNvPr id="12" name="Shape 10"/>
          <p:cNvSpPr/>
          <p:nvPr/>
        </p:nvSpPr>
        <p:spPr>
          <a:xfrm>
            <a:off x="819150" y="3028950"/>
            <a:ext cx="5194300" cy="2806700"/>
          </a:xfrm>
          <a:prstGeom prst="roundRect">
            <a:avLst>
              <a:gd name="adj" fmla="val 5204"/>
            </a:avLst>
          </a:prstGeom>
          <a:solidFill>
            <a:srgbClr val="FFFFFF"/>
          </a:solidFill>
          <a:ln w="12700">
            <a:solidFill>
              <a:srgbClr val="E3E6EE"/>
            </a:solidFill>
            <a:prstDash val="solid"/>
          </a:ln>
        </p:spPr>
      </p:sp>
      <p:sp>
        <p:nvSpPr>
          <p:cNvPr id="13" name="Text 11"/>
          <p:cNvSpPr/>
          <p:nvPr/>
        </p:nvSpPr>
        <p:spPr>
          <a:xfrm>
            <a:off x="1076960" y="3235961"/>
            <a:ext cx="48190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Nifty 50 return by year</a:t>
            </a:r>
            <a:endParaRPr lang="en-US" sz="1600" dirty="0"/>
          </a:p>
        </p:txBody>
      </p:sp>
      <p:sp>
        <p:nvSpPr>
          <p:cNvPr id="14" name="Text 12"/>
          <p:cNvSpPr/>
          <p:nvPr/>
        </p:nvSpPr>
        <p:spPr>
          <a:xfrm>
            <a:off x="1076960" y="3609339"/>
            <a:ext cx="45005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2022</a:t>
            </a:r>
            <a:endParaRPr lang="en-US" sz="1200" dirty="0"/>
          </a:p>
        </p:txBody>
      </p:sp>
      <p:sp>
        <p:nvSpPr>
          <p:cNvPr id="15" name="Text 13"/>
          <p:cNvSpPr/>
          <p:nvPr/>
        </p:nvSpPr>
        <p:spPr>
          <a:xfrm>
            <a:off x="5162994" y="3609339"/>
            <a:ext cx="592646"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+4.3%</a:t>
            </a:r>
            <a:endParaRPr lang="en-US" sz="1200" dirty="0"/>
          </a:p>
        </p:txBody>
      </p:sp>
      <p:sp>
        <p:nvSpPr>
          <p:cNvPr id="16" name="Text 14"/>
          <p:cNvSpPr/>
          <p:nvPr/>
        </p:nvSpPr>
        <p:spPr>
          <a:xfrm>
            <a:off x="1076960" y="3911600"/>
            <a:ext cx="4514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2023</a:t>
            </a:r>
            <a:endParaRPr lang="en-US" sz="1200" dirty="0"/>
          </a:p>
        </p:txBody>
      </p:sp>
      <p:sp>
        <p:nvSpPr>
          <p:cNvPr id="17" name="Text 15"/>
          <p:cNvSpPr/>
          <p:nvPr/>
        </p:nvSpPr>
        <p:spPr>
          <a:xfrm>
            <a:off x="5050219" y="3911600"/>
            <a:ext cx="70542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+20.0%</a:t>
            </a:r>
            <a:endParaRPr lang="en-US" sz="1200" dirty="0"/>
          </a:p>
        </p:txBody>
      </p:sp>
      <p:sp>
        <p:nvSpPr>
          <p:cNvPr id="18" name="Text 16"/>
          <p:cNvSpPr/>
          <p:nvPr/>
        </p:nvSpPr>
        <p:spPr>
          <a:xfrm>
            <a:off x="1076960" y="4213864"/>
            <a:ext cx="4537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2024</a:t>
            </a:r>
            <a:endParaRPr lang="en-US" sz="1200" dirty="0"/>
          </a:p>
        </p:txBody>
      </p:sp>
      <p:sp>
        <p:nvSpPr>
          <p:cNvPr id="19" name="Text 17"/>
          <p:cNvSpPr/>
          <p:nvPr/>
        </p:nvSpPr>
        <p:spPr>
          <a:xfrm>
            <a:off x="5165185" y="4213864"/>
            <a:ext cx="590455"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+8.8%</a:t>
            </a:r>
            <a:endParaRPr lang="en-US" sz="1200" dirty="0"/>
          </a:p>
        </p:txBody>
      </p:sp>
      <p:sp>
        <p:nvSpPr>
          <p:cNvPr id="20" name="Text 18"/>
          <p:cNvSpPr/>
          <p:nvPr/>
        </p:nvSpPr>
        <p:spPr>
          <a:xfrm>
            <a:off x="1076960" y="4516121"/>
            <a:ext cx="4470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2025</a:t>
            </a:r>
            <a:endParaRPr lang="en-US" sz="1200" dirty="0"/>
          </a:p>
        </p:txBody>
      </p:sp>
      <p:sp>
        <p:nvSpPr>
          <p:cNvPr id="21" name="Text 19"/>
          <p:cNvSpPr/>
          <p:nvPr/>
        </p:nvSpPr>
        <p:spPr>
          <a:xfrm>
            <a:off x="5087366" y="4516121"/>
            <a:ext cx="668274"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+10.5%</a:t>
            </a:r>
            <a:endParaRPr lang="en-US" sz="1200" dirty="0"/>
          </a:p>
        </p:txBody>
      </p:sp>
      <p:sp>
        <p:nvSpPr>
          <p:cNvPr id="22" name="Text 20"/>
          <p:cNvSpPr/>
          <p:nvPr/>
        </p:nvSpPr>
        <p:spPr>
          <a:xfrm>
            <a:off x="1076960" y="4818379"/>
            <a:ext cx="9972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2026 so far</a:t>
            </a:r>
            <a:endParaRPr lang="en-US" sz="1200" dirty="0"/>
          </a:p>
        </p:txBody>
      </p:sp>
      <p:sp>
        <p:nvSpPr>
          <p:cNvPr id="23" name="Text 21"/>
          <p:cNvSpPr/>
          <p:nvPr/>
        </p:nvSpPr>
        <p:spPr>
          <a:xfrm>
            <a:off x="5152041" y="4818379"/>
            <a:ext cx="603599"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D03B3B"/>
                </a:solidFill>
                <a:latin typeface="Inter" pitchFamily="34" charset="0"/>
                <a:ea typeface="Inter" pitchFamily="34" charset="-122"/>
                <a:cs typeface="Inter" pitchFamily="34" charset="-120"/>
              </a:rPr>
              <a:t>-11.4%</a:t>
            </a:r>
            <a:endParaRPr lang="en-US" sz="1200" dirty="0"/>
          </a:p>
        </p:txBody>
      </p:sp>
      <p:sp>
        <p:nvSpPr>
          <p:cNvPr id="24" name="Shape 22"/>
          <p:cNvSpPr/>
          <p:nvPr/>
        </p:nvSpPr>
        <p:spPr>
          <a:xfrm>
            <a:off x="6178550" y="3028950"/>
            <a:ext cx="5194300" cy="2806700"/>
          </a:xfrm>
          <a:prstGeom prst="roundRect">
            <a:avLst>
              <a:gd name="adj" fmla="val 5204"/>
            </a:avLst>
          </a:prstGeom>
          <a:solidFill>
            <a:srgbClr val="FFFFFF"/>
          </a:solidFill>
          <a:ln w="12700">
            <a:solidFill>
              <a:srgbClr val="E3E6EE"/>
            </a:solidFill>
            <a:prstDash val="solid"/>
          </a:ln>
        </p:spPr>
      </p:sp>
      <p:sp>
        <p:nvSpPr>
          <p:cNvPr id="25" name="Text 23"/>
          <p:cNvSpPr/>
          <p:nvPr/>
        </p:nvSpPr>
        <p:spPr>
          <a:xfrm>
            <a:off x="6436360" y="3235961"/>
            <a:ext cx="481904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Sectors by average total score</a:t>
            </a:r>
            <a:endParaRPr lang="en-US" sz="1600" dirty="0"/>
          </a:p>
        </p:txBody>
      </p:sp>
      <p:sp>
        <p:nvSpPr>
          <p:cNvPr id="26" name="Text 24"/>
          <p:cNvSpPr/>
          <p:nvPr/>
        </p:nvSpPr>
        <p:spPr>
          <a:xfrm>
            <a:off x="6436360" y="3609339"/>
            <a:ext cx="6622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Pharma</a:t>
            </a:r>
            <a:endParaRPr lang="en-US" sz="1200" dirty="0"/>
          </a:p>
        </p:txBody>
      </p:sp>
      <p:sp>
        <p:nvSpPr>
          <p:cNvPr id="27" name="Text 25"/>
          <p:cNvSpPr/>
          <p:nvPr/>
        </p:nvSpPr>
        <p:spPr>
          <a:xfrm>
            <a:off x="10711847" y="3609339"/>
            <a:ext cx="403193"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64.8</a:t>
            </a:r>
            <a:endParaRPr lang="en-US" sz="1200" dirty="0"/>
          </a:p>
        </p:txBody>
      </p:sp>
      <p:sp>
        <p:nvSpPr>
          <p:cNvPr id="28" name="Text 26"/>
          <p:cNvSpPr/>
          <p:nvPr/>
        </p:nvSpPr>
        <p:spPr>
          <a:xfrm>
            <a:off x="6436360" y="3911600"/>
            <a:ext cx="69532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Banking</a:t>
            </a:r>
            <a:endParaRPr lang="en-US" sz="1200" dirty="0"/>
          </a:p>
        </p:txBody>
      </p:sp>
      <p:sp>
        <p:nvSpPr>
          <p:cNvPr id="29" name="Text 27"/>
          <p:cNvSpPr/>
          <p:nvPr/>
        </p:nvSpPr>
        <p:spPr>
          <a:xfrm>
            <a:off x="10750328" y="3911600"/>
            <a:ext cx="364712"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57.6</a:t>
            </a:r>
            <a:endParaRPr lang="en-US" sz="1200" dirty="0"/>
          </a:p>
        </p:txBody>
      </p:sp>
      <p:sp>
        <p:nvSpPr>
          <p:cNvPr id="30" name="Text 28"/>
          <p:cNvSpPr/>
          <p:nvPr/>
        </p:nvSpPr>
        <p:spPr>
          <a:xfrm>
            <a:off x="6436360" y="4213864"/>
            <a:ext cx="1901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IT</a:t>
            </a:r>
            <a:endParaRPr lang="en-US" sz="1200" dirty="0"/>
          </a:p>
        </p:txBody>
      </p:sp>
      <p:sp>
        <p:nvSpPr>
          <p:cNvPr id="31" name="Text 29"/>
          <p:cNvSpPr/>
          <p:nvPr/>
        </p:nvSpPr>
        <p:spPr>
          <a:xfrm>
            <a:off x="10710704" y="4213864"/>
            <a:ext cx="404336"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34.2</a:t>
            </a:r>
            <a:endParaRPr lang="en-US" sz="1200" dirty="0"/>
          </a:p>
        </p:txBody>
      </p:sp>
      <p:sp>
        <p:nvSpPr>
          <p:cNvPr id="32" name="Text 30"/>
          <p:cNvSpPr/>
          <p:nvPr/>
        </p:nvSpPr>
        <p:spPr>
          <a:xfrm>
            <a:off x="6436360" y="4516121"/>
            <a:ext cx="5760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nter" pitchFamily="34" charset="0"/>
                <a:ea typeface="Inter" pitchFamily="34" charset="-122"/>
                <a:cs typeface="Inter" pitchFamily="34" charset="-120"/>
              </a:rPr>
              <a:t>Metals</a:t>
            </a:r>
            <a:endParaRPr lang="en-US" sz="1200" dirty="0"/>
          </a:p>
        </p:txBody>
      </p:sp>
      <p:sp>
        <p:nvSpPr>
          <p:cNvPr id="33" name="Text 31"/>
          <p:cNvSpPr/>
          <p:nvPr/>
        </p:nvSpPr>
        <p:spPr>
          <a:xfrm>
            <a:off x="10751090" y="4516121"/>
            <a:ext cx="36395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nter" pitchFamily="34" charset="0"/>
                <a:ea typeface="Inter" pitchFamily="34" charset="-122"/>
                <a:cs typeface="Inter" pitchFamily="34" charset="-120"/>
              </a:rPr>
              <a:t>31.6</a:t>
            </a:r>
            <a:endParaRPr lang="en-US" sz="1200" dirty="0"/>
          </a:p>
        </p:txBody>
      </p:sp>
      <p:sp>
        <p:nvSpPr>
          <p:cNvPr id="34" name="Text 32"/>
          <p:cNvSpPr/>
          <p:nvPr/>
        </p:nvSpPr>
        <p:spPr>
          <a:xfrm>
            <a:off x="812800" y="6238242"/>
            <a:ext cx="371579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21 of 28 stocks fell over the last six months</a:t>
            </a:r>
            <a:endParaRPr lang="en-US" sz="1200" dirty="0"/>
          </a:p>
        </p:txBody>
      </p:sp>
      <p:sp>
        <p:nvSpPr>
          <p:cNvPr id="35" name="Text 33"/>
          <p:cNvSpPr/>
          <p:nvPr/>
        </p:nvSpPr>
        <p:spPr>
          <a:xfrm>
            <a:off x="11234103" y="6238242"/>
            <a:ext cx="145098"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100 invested in the Low-risk stocks grew to 172, against 125 in the Nifty 50</a:t>
            </a:r>
            <a:endParaRPr lang="en-US" sz="2800" dirty="0"/>
          </a:p>
        </p:txBody>
      </p:sp>
      <p:sp>
        <p:nvSpPr>
          <p:cNvPr id="3" name="Shape 1"/>
          <p:cNvSpPr/>
          <p:nvPr/>
        </p:nvSpPr>
        <p:spPr>
          <a:xfrm>
            <a:off x="819150" y="1891029"/>
            <a:ext cx="10553700" cy="3898900"/>
          </a:xfrm>
          <a:prstGeom prst="roundRect">
            <a:avLst>
              <a:gd name="adj" fmla="val 3746"/>
            </a:avLst>
          </a:prstGeom>
          <a:solidFill>
            <a:srgbClr val="FCFCFB"/>
          </a:solidFill>
          <a:ln w="12700">
            <a:solidFill>
              <a:srgbClr val="E3E6EE"/>
            </a:solidFill>
            <a:prstDash val="solid"/>
          </a:ln>
        </p:spPr>
      </p:sp>
      <p:pic>
        <p:nvPicPr>
          <p:cNvPr id="4" name="Image 0" descr="Line chart of the value of 100 invested over five years in the Low-risk stocks, all 28 stocks and the Nifty 50">    </p:cNvPr>
          <p:cNvPicPr>
            <a:picLocks noChangeAspect="1"/>
          </p:cNvPicPr>
          <p:nvPr/>
        </p:nvPicPr>
        <p:blipFill>
          <a:blip r:embed="rId1"/>
          <a:srcRect l="0" r="0" t="0" b="0"/>
          <a:stretch/>
        </p:blipFill>
        <p:spPr>
          <a:xfrm>
            <a:off x="965200" y="1935479"/>
            <a:ext cx="10261600" cy="3810000"/>
          </a:xfrm>
          <a:prstGeom prst="rect">
            <a:avLst/>
          </a:prstGeom>
        </p:spPr>
      </p:pic>
      <p:sp>
        <p:nvSpPr>
          <p:cNvPr id="5" name="Text 2"/>
          <p:cNvSpPr/>
          <p:nvPr/>
        </p:nvSpPr>
        <p:spPr>
          <a:xfrm>
            <a:off x="812800" y="6238242"/>
            <a:ext cx="59857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Equal-weighted. Stocks include dividends, the Nifty line is price-only.</a:t>
            </a:r>
            <a:endParaRPr lang="en-US" sz="1200" dirty="0"/>
          </a:p>
        </p:txBody>
      </p:sp>
      <p:sp>
        <p:nvSpPr>
          <p:cNvPr id="6" name="Text 3"/>
          <p:cNvSpPr/>
          <p:nvPr/>
        </p:nvSpPr>
        <p:spPr>
          <a:xfrm>
            <a:off x="11233865" y="6238242"/>
            <a:ext cx="145336"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A live five-page dashboard to explore the results</a:t>
            </a:r>
            <a:endParaRPr lang="en-US" sz="2800" dirty="0"/>
          </a:p>
        </p:txBody>
      </p:sp>
      <p:sp>
        <p:nvSpPr>
          <p:cNvPr id="3" name="Shape 1"/>
          <p:cNvSpPr/>
          <p:nvPr/>
        </p:nvSpPr>
        <p:spPr>
          <a:xfrm>
            <a:off x="819150" y="1532892"/>
            <a:ext cx="1998980" cy="1463040"/>
          </a:xfrm>
          <a:prstGeom prst="roundRect">
            <a:avLst>
              <a:gd name="adj" fmla="val 9983"/>
            </a:avLst>
          </a:prstGeom>
          <a:solidFill>
            <a:srgbClr val="FFFFFF"/>
          </a:solidFill>
          <a:ln w="12700">
            <a:solidFill>
              <a:srgbClr val="E3E6EE"/>
            </a:solidFill>
            <a:prstDash val="solid"/>
          </a:ln>
        </p:spPr>
      </p:sp>
      <p:sp>
        <p:nvSpPr>
          <p:cNvPr id="4" name="Text 2"/>
          <p:cNvSpPr/>
          <p:nvPr/>
        </p:nvSpPr>
        <p:spPr>
          <a:xfrm>
            <a:off x="1000760" y="1739900"/>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Overview</a:t>
            </a:r>
            <a:endParaRPr lang="en-US" sz="1600" dirty="0"/>
          </a:p>
        </p:txBody>
      </p:sp>
      <p:sp>
        <p:nvSpPr>
          <p:cNvPr id="5" name="Text 3"/>
          <p:cNvSpPr/>
          <p:nvPr/>
        </p:nvSpPr>
        <p:spPr>
          <a:xfrm>
            <a:off x="1000760" y="2125979"/>
            <a:ext cx="1686560"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All 28 recommendations at a glance</a:t>
            </a:r>
            <a:endParaRPr lang="en-US" sz="1200" dirty="0"/>
          </a:p>
        </p:txBody>
      </p:sp>
      <p:sp>
        <p:nvSpPr>
          <p:cNvPr id="6" name="Shape 4"/>
          <p:cNvSpPr/>
          <p:nvPr/>
        </p:nvSpPr>
        <p:spPr>
          <a:xfrm>
            <a:off x="2957830" y="1532892"/>
            <a:ext cx="1998980" cy="1463040"/>
          </a:xfrm>
          <a:prstGeom prst="roundRect">
            <a:avLst>
              <a:gd name="adj" fmla="val 9983"/>
            </a:avLst>
          </a:prstGeom>
          <a:solidFill>
            <a:srgbClr val="FFFFFF"/>
          </a:solidFill>
          <a:ln w="12700">
            <a:solidFill>
              <a:srgbClr val="E3E6EE"/>
            </a:solidFill>
            <a:prstDash val="solid"/>
          </a:ln>
        </p:spPr>
      </p:sp>
      <p:sp>
        <p:nvSpPr>
          <p:cNvPr id="7" name="Text 5"/>
          <p:cNvSpPr/>
          <p:nvPr/>
        </p:nvSpPr>
        <p:spPr>
          <a:xfrm>
            <a:off x="3139440" y="1739900"/>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Stock Explorer</a:t>
            </a:r>
            <a:endParaRPr lang="en-US" sz="1600" dirty="0"/>
          </a:p>
        </p:txBody>
      </p:sp>
      <p:sp>
        <p:nvSpPr>
          <p:cNvPr id="8" name="Text 6"/>
          <p:cNvSpPr/>
          <p:nvPr/>
        </p:nvSpPr>
        <p:spPr>
          <a:xfrm>
            <a:off x="3139440" y="2125979"/>
            <a:ext cx="168656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Price chart and metrics for one stock</a:t>
            </a:r>
            <a:endParaRPr lang="en-US" sz="1200" dirty="0"/>
          </a:p>
        </p:txBody>
      </p:sp>
      <p:sp>
        <p:nvSpPr>
          <p:cNvPr id="9" name="Shape 7"/>
          <p:cNvSpPr/>
          <p:nvPr/>
        </p:nvSpPr>
        <p:spPr>
          <a:xfrm>
            <a:off x="5096510" y="1532892"/>
            <a:ext cx="1998980" cy="1463040"/>
          </a:xfrm>
          <a:prstGeom prst="roundRect">
            <a:avLst>
              <a:gd name="adj" fmla="val 9983"/>
            </a:avLst>
          </a:prstGeom>
          <a:solidFill>
            <a:srgbClr val="FFFFFF"/>
          </a:solidFill>
          <a:ln w="12700">
            <a:solidFill>
              <a:srgbClr val="E3E6EE"/>
            </a:solidFill>
            <a:prstDash val="solid"/>
          </a:ln>
        </p:spPr>
      </p:sp>
      <p:sp>
        <p:nvSpPr>
          <p:cNvPr id="10" name="Text 8"/>
          <p:cNvSpPr/>
          <p:nvPr/>
        </p:nvSpPr>
        <p:spPr>
          <a:xfrm>
            <a:off x="5278120" y="1739900"/>
            <a:ext cx="181102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Compare Stocks</a:t>
            </a:r>
            <a:endParaRPr lang="en-US" sz="1600" dirty="0"/>
          </a:p>
        </p:txBody>
      </p:sp>
      <p:sp>
        <p:nvSpPr>
          <p:cNvPr id="11" name="Text 9"/>
          <p:cNvSpPr/>
          <p:nvPr/>
        </p:nvSpPr>
        <p:spPr>
          <a:xfrm>
            <a:off x="5278120" y="2125979"/>
            <a:ext cx="168656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Put several stocks side by side</a:t>
            </a:r>
            <a:endParaRPr lang="en-US" sz="1200" dirty="0"/>
          </a:p>
        </p:txBody>
      </p:sp>
      <p:sp>
        <p:nvSpPr>
          <p:cNvPr id="12" name="Shape 10"/>
          <p:cNvSpPr/>
          <p:nvPr/>
        </p:nvSpPr>
        <p:spPr>
          <a:xfrm>
            <a:off x="7235190" y="1532892"/>
            <a:ext cx="1998980" cy="1463040"/>
          </a:xfrm>
          <a:prstGeom prst="roundRect">
            <a:avLst>
              <a:gd name="adj" fmla="val 9983"/>
            </a:avLst>
          </a:prstGeom>
          <a:solidFill>
            <a:srgbClr val="FFFFFF"/>
          </a:solidFill>
          <a:ln w="12700">
            <a:solidFill>
              <a:srgbClr val="E3E6EE"/>
            </a:solidFill>
            <a:prstDash val="solid"/>
          </a:ln>
        </p:spPr>
      </p:sp>
      <p:sp>
        <p:nvSpPr>
          <p:cNvPr id="13" name="Text 11"/>
          <p:cNvSpPr/>
          <p:nvPr/>
        </p:nvSpPr>
        <p:spPr>
          <a:xfrm>
            <a:off x="7416800" y="1739900"/>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Portfolio Builder</a:t>
            </a:r>
            <a:endParaRPr lang="en-US" sz="1600" dirty="0"/>
          </a:p>
        </p:txBody>
      </p:sp>
      <p:sp>
        <p:nvSpPr>
          <p:cNvPr id="14" name="Text 12"/>
          <p:cNvSpPr/>
          <p:nvPr/>
        </p:nvSpPr>
        <p:spPr>
          <a:xfrm>
            <a:off x="7416800" y="2125979"/>
            <a:ext cx="1686560"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Pick stocks and see combined return and risk</a:t>
            </a:r>
            <a:endParaRPr lang="en-US" sz="1200" dirty="0"/>
          </a:p>
        </p:txBody>
      </p:sp>
      <p:sp>
        <p:nvSpPr>
          <p:cNvPr id="15" name="Shape 13"/>
          <p:cNvSpPr/>
          <p:nvPr/>
        </p:nvSpPr>
        <p:spPr>
          <a:xfrm>
            <a:off x="9373870" y="1532892"/>
            <a:ext cx="1998980" cy="1463040"/>
          </a:xfrm>
          <a:prstGeom prst="roundRect">
            <a:avLst>
              <a:gd name="adj" fmla="val 9983"/>
            </a:avLst>
          </a:prstGeom>
          <a:solidFill>
            <a:srgbClr val="FFFFFF"/>
          </a:solidFill>
          <a:ln w="12700">
            <a:solidFill>
              <a:srgbClr val="E3E6EE"/>
            </a:solidFill>
            <a:prstDash val="solid"/>
          </a:ln>
        </p:spPr>
      </p:sp>
      <p:sp>
        <p:nvSpPr>
          <p:cNvPr id="16" name="Text 14"/>
          <p:cNvSpPr/>
          <p:nvPr/>
        </p:nvSpPr>
        <p:spPr>
          <a:xfrm>
            <a:off x="9555480" y="1739900"/>
            <a:ext cx="168656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Risk vs Return</a:t>
            </a:r>
            <a:endParaRPr lang="en-US" sz="1600" dirty="0"/>
          </a:p>
        </p:txBody>
      </p:sp>
      <p:sp>
        <p:nvSpPr>
          <p:cNvPr id="17" name="Text 15"/>
          <p:cNvSpPr/>
          <p:nvPr/>
        </p:nvSpPr>
        <p:spPr>
          <a:xfrm>
            <a:off x="9555480" y="2125979"/>
            <a:ext cx="1686560"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Every stock plotted by risk and return</a:t>
            </a:r>
            <a:endParaRPr lang="en-US" sz="1200" dirty="0"/>
          </a:p>
        </p:txBody>
      </p:sp>
      <p:sp>
        <p:nvSpPr>
          <p:cNvPr id="18" name="Shape 16"/>
          <p:cNvSpPr/>
          <p:nvPr/>
        </p:nvSpPr>
        <p:spPr>
          <a:xfrm>
            <a:off x="812800" y="3307079"/>
            <a:ext cx="10566400" cy="1132840"/>
          </a:xfrm>
          <a:prstGeom prst="roundRect">
            <a:avLst>
              <a:gd name="adj" fmla="val 13453"/>
            </a:avLst>
          </a:prstGeom>
          <a:solidFill>
            <a:srgbClr val="E6EEFB"/>
          </a:solidFill>
          <a:ln/>
        </p:spPr>
      </p:sp>
      <p:sp>
        <p:nvSpPr>
          <p:cNvPr id="19" name="Text 17"/>
          <p:cNvSpPr/>
          <p:nvPr/>
        </p:nvSpPr>
        <p:spPr>
          <a:xfrm>
            <a:off x="1117600" y="3586479"/>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78D6"/>
                </a:solidFill>
                <a:latin typeface="Inter" pitchFamily="34" charset="0"/>
                <a:ea typeface="Inter" pitchFamily="34" charset="-122"/>
                <a:cs typeface="Inter" pitchFamily="34" charset="-120"/>
              </a:rPr>
              <a:t>Live app</a:t>
            </a:r>
            <a:endParaRPr lang="en-US" sz="1200" dirty="0"/>
          </a:p>
        </p:txBody>
      </p:sp>
      <p:sp>
        <p:nvSpPr>
          <p:cNvPr id="20" name="Text 18"/>
          <p:cNvSpPr/>
          <p:nvPr/>
        </p:nvSpPr>
        <p:spPr>
          <a:xfrm>
            <a:off x="2540000" y="3561079"/>
            <a:ext cx="800509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nter" pitchFamily="34" charset="0"/>
                <a:ea typeface="Inter" pitchFamily="34" charset="-122"/>
                <a:cs typeface="Inter" pitchFamily="34" charset="-120"/>
              </a:rPr>
              <a:t>investment-recommendation-system-bnw27gg3puetznkcc3st2u.streamlit.app</a:t>
            </a:r>
            <a:endParaRPr lang="en-US" sz="1400" dirty="0"/>
          </a:p>
        </p:txBody>
      </p:sp>
      <p:sp>
        <p:nvSpPr>
          <p:cNvPr id="21" name="Text 19"/>
          <p:cNvSpPr/>
          <p:nvPr/>
        </p:nvSpPr>
        <p:spPr>
          <a:xfrm>
            <a:off x="1117600" y="3962400"/>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78D6"/>
                </a:solidFill>
                <a:latin typeface="Inter" pitchFamily="34" charset="0"/>
                <a:ea typeface="Inter" pitchFamily="34" charset="-122"/>
                <a:cs typeface="Inter" pitchFamily="34" charset="-120"/>
              </a:rPr>
              <a:t>GitHub</a:t>
            </a:r>
            <a:endParaRPr lang="en-US" sz="1200" dirty="0"/>
          </a:p>
        </p:txBody>
      </p:sp>
      <p:sp>
        <p:nvSpPr>
          <p:cNvPr id="22" name="Text 20"/>
          <p:cNvSpPr/>
          <p:nvPr/>
        </p:nvSpPr>
        <p:spPr>
          <a:xfrm>
            <a:off x="2540000" y="3937000"/>
            <a:ext cx="779383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nter" pitchFamily="34" charset="0"/>
                <a:ea typeface="Inter" pitchFamily="34" charset="-122"/>
                <a:cs typeface="Inter" pitchFamily="34" charset="-120"/>
              </a:rPr>
              <a:t>github.com/natashajenovavalluru007S/investment-recommendation-system</a:t>
            </a:r>
            <a:endParaRPr lang="en-US" sz="1400" dirty="0"/>
          </a:p>
        </p:txBody>
      </p:sp>
      <p:sp>
        <p:nvSpPr>
          <p:cNvPr id="23" name="Text 21"/>
          <p:cNvSpPr/>
          <p:nvPr/>
        </p:nvSpPr>
        <p:spPr>
          <a:xfrm>
            <a:off x="812800" y="6238242"/>
            <a:ext cx="5047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Built with Streamlit and Plotly, deployed on Streamlit Cloud</a:t>
            </a:r>
            <a:endParaRPr lang="en-US" sz="1200" dirty="0"/>
          </a:p>
        </p:txBody>
      </p:sp>
      <p:sp>
        <p:nvSpPr>
          <p:cNvPr id="24" name="Text 22"/>
          <p:cNvSpPr/>
          <p:nvPr/>
        </p:nvSpPr>
        <p:spPr>
          <a:xfrm>
            <a:off x="11170206" y="6238242"/>
            <a:ext cx="20899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810750"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Inter" pitchFamily="34" charset="0"/>
                <a:ea typeface="Inter" pitchFamily="34" charset="-122"/>
                <a:cs typeface="Inter" pitchFamily="34" charset="-120"/>
              </a:rPr>
              <a:t>What to keep in mind, and what comes next</a:t>
            </a:r>
            <a:endParaRPr lang="en-US" sz="2800" dirty="0"/>
          </a:p>
        </p:txBody>
      </p:sp>
      <p:sp>
        <p:nvSpPr>
          <p:cNvPr id="3" name="Shape 1"/>
          <p:cNvSpPr/>
          <p:nvPr/>
        </p:nvSpPr>
        <p:spPr>
          <a:xfrm>
            <a:off x="819150" y="1532892"/>
            <a:ext cx="5179060" cy="4302760"/>
          </a:xfrm>
          <a:prstGeom prst="roundRect">
            <a:avLst>
              <a:gd name="adj" fmla="val 3394"/>
            </a:avLst>
          </a:prstGeom>
          <a:solidFill>
            <a:srgbClr val="FFFFFF"/>
          </a:solidFill>
          <a:ln w="12700">
            <a:solidFill>
              <a:srgbClr val="E3E6EE"/>
            </a:solidFill>
            <a:prstDash val="solid"/>
          </a:ln>
        </p:spPr>
      </p:sp>
      <p:sp>
        <p:nvSpPr>
          <p:cNvPr id="4" name="Text 2"/>
          <p:cNvSpPr/>
          <p:nvPr/>
        </p:nvSpPr>
        <p:spPr>
          <a:xfrm>
            <a:off x="1076960" y="1790700"/>
            <a:ext cx="480334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Limitations</a:t>
            </a:r>
            <a:endParaRPr lang="en-US" sz="1600" dirty="0"/>
          </a:p>
        </p:txBody>
      </p:sp>
      <p:sp>
        <p:nvSpPr>
          <p:cNvPr id="5" name="Text 3"/>
          <p:cNvSpPr/>
          <p:nvPr/>
        </p:nvSpPr>
        <p:spPr>
          <a:xfrm>
            <a:off x="1076960" y="2202179"/>
            <a:ext cx="480334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The 28 stocks are today's index members, so failed or removed companies are missing.</a:t>
            </a:r>
            <a:endParaRPr lang="en-US" sz="1200" dirty="0"/>
          </a:p>
        </p:txBody>
      </p:sp>
      <p:sp>
        <p:nvSpPr>
          <p:cNvPr id="6" name="Text 4"/>
          <p:cNvSpPr/>
          <p:nvPr/>
        </p:nvSpPr>
        <p:spPr>
          <a:xfrm>
            <a:off x="1076960" y="2771142"/>
            <a:ext cx="480334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Results are in-sample, and the window is only five years.</a:t>
            </a:r>
            <a:endParaRPr lang="en-US" sz="1200" dirty="0"/>
          </a:p>
        </p:txBody>
      </p:sp>
      <p:sp>
        <p:nvSpPr>
          <p:cNvPr id="7" name="Text 5"/>
          <p:cNvSpPr/>
          <p:nvPr/>
        </p:nvSpPr>
        <p:spPr>
          <a:xfrm>
            <a:off x="1076960" y="3119121"/>
            <a:ext cx="480334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The score uses price history only, with no earnings or valuation data.</a:t>
            </a:r>
            <a:endParaRPr lang="en-US" sz="1200" dirty="0"/>
          </a:p>
        </p:txBody>
      </p:sp>
      <p:sp>
        <p:nvSpPr>
          <p:cNvPr id="8" name="Text 6"/>
          <p:cNvSpPr/>
          <p:nvPr/>
        </p:nvSpPr>
        <p:spPr>
          <a:xfrm>
            <a:off x="1076960" y="3688079"/>
            <a:ext cx="4803343"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Weights are judgement calls, and risk levels are relative to these 28 stocks.</a:t>
            </a:r>
            <a:endParaRPr lang="en-US" sz="1200" dirty="0"/>
          </a:p>
        </p:txBody>
      </p:sp>
      <p:sp>
        <p:nvSpPr>
          <p:cNvPr id="9" name="Shape 7"/>
          <p:cNvSpPr/>
          <p:nvPr/>
        </p:nvSpPr>
        <p:spPr>
          <a:xfrm>
            <a:off x="6207760" y="1526542"/>
            <a:ext cx="5171440" cy="4315460"/>
          </a:xfrm>
          <a:prstGeom prst="roundRect">
            <a:avLst>
              <a:gd name="adj" fmla="val 3531"/>
            </a:avLst>
          </a:prstGeom>
          <a:solidFill>
            <a:srgbClr val="E6EEFB"/>
          </a:solidFill>
          <a:ln/>
        </p:spPr>
      </p:sp>
      <p:sp>
        <p:nvSpPr>
          <p:cNvPr id="10" name="Text 8"/>
          <p:cNvSpPr/>
          <p:nvPr/>
        </p:nvSpPr>
        <p:spPr>
          <a:xfrm>
            <a:off x="6461760" y="1780542"/>
            <a:ext cx="4803343"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213D"/>
                </a:solidFill>
                <a:latin typeface="Inter" pitchFamily="34" charset="0"/>
                <a:ea typeface="Inter" pitchFamily="34" charset="-122"/>
                <a:cs typeface="Inter" pitchFamily="34" charset="-120"/>
              </a:rPr>
              <a:t>Next steps</a:t>
            </a:r>
            <a:endParaRPr lang="en-US" sz="1600" dirty="0"/>
          </a:p>
        </p:txBody>
      </p:sp>
      <p:sp>
        <p:nvSpPr>
          <p:cNvPr id="11" name="Text 9"/>
          <p:cNvSpPr/>
          <p:nvPr/>
        </p:nvSpPr>
        <p:spPr>
          <a:xfrm>
            <a:off x="6461760" y="2192021"/>
            <a:ext cx="480334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Add all 50 Nifty stocks and refresh the data automatically.</a:t>
            </a:r>
            <a:endParaRPr lang="en-US" sz="1200" dirty="0"/>
          </a:p>
        </p:txBody>
      </p:sp>
      <p:sp>
        <p:nvSpPr>
          <p:cNvPr id="12" name="Text 10"/>
          <p:cNvSpPr/>
          <p:nvPr/>
        </p:nvSpPr>
        <p:spPr>
          <a:xfrm>
            <a:off x="6461760" y="2540000"/>
            <a:ext cx="480334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Bring in fundamentals such as earnings growth and valuation.</a:t>
            </a:r>
            <a:endParaRPr lang="en-US" sz="1200" dirty="0"/>
          </a:p>
        </p:txBody>
      </p:sp>
      <p:sp>
        <p:nvSpPr>
          <p:cNvPr id="13" name="Text 11"/>
          <p:cNvSpPr/>
          <p:nvPr/>
        </p:nvSpPr>
        <p:spPr>
          <a:xfrm>
            <a:off x="6461760" y="2887979"/>
            <a:ext cx="480334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Test the signals on data the scores have not seen.</a:t>
            </a:r>
            <a:endParaRPr lang="en-US" sz="1200" dirty="0"/>
          </a:p>
        </p:txBody>
      </p:sp>
      <p:sp>
        <p:nvSpPr>
          <p:cNvPr id="14" name="Text 12"/>
          <p:cNvSpPr/>
          <p:nvPr/>
        </p:nvSpPr>
        <p:spPr>
          <a:xfrm>
            <a:off x="6461760" y="3235964"/>
            <a:ext cx="4803343"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Inter" pitchFamily="34" charset="0"/>
                <a:ea typeface="Inter" pitchFamily="34" charset="-122"/>
                <a:cs typeface="Inter" pitchFamily="34" charset="-120"/>
              </a:rPr>
              <a:t>Let users change the weights in the dashboard.</a:t>
            </a:r>
            <a:endParaRPr lang="en-US" sz="1200" dirty="0"/>
          </a:p>
        </p:txBody>
      </p:sp>
      <p:sp>
        <p:nvSpPr>
          <p:cNvPr id="15" name="Text 13"/>
          <p:cNvSpPr/>
          <p:nvPr/>
        </p:nvSpPr>
        <p:spPr>
          <a:xfrm>
            <a:off x="812800" y="6238242"/>
            <a:ext cx="39033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nter" pitchFamily="34" charset="0"/>
                <a:ea typeface="Inter" pitchFamily="34" charset="-122"/>
                <a:cs typeface="Inter" pitchFamily="34" charset="-120"/>
              </a:rPr>
              <a:t>This is a learning project, not financial advice</a:t>
            </a:r>
            <a:endParaRPr lang="en-US" sz="1200" dirty="0"/>
          </a:p>
        </p:txBody>
      </p:sp>
      <p:sp>
        <p:nvSpPr>
          <p:cNvPr id="16" name="Text 14"/>
          <p:cNvSpPr/>
          <p:nvPr/>
        </p:nvSpPr>
        <p:spPr>
          <a:xfrm>
            <a:off x="11204416" y="6238242"/>
            <a:ext cx="174784"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6EEFB"/>
        </a:solidFill>
      </p:bgPr>
    </p:bg>
    <p:spTree>
      <p:nvGrpSpPr>
        <p:cNvPr id="1" name=""/>
        <p:cNvGrpSpPr/>
        <p:nvPr/>
      </p:nvGrpSpPr>
      <p:grpSpPr>
        <a:xfrm>
          <a:off x="0" y="0"/>
          <a:ext cx="0" cy="0"/>
          <a:chOff x="0" y="0"/>
          <a:chExt cx="0" cy="0"/>
        </a:xfrm>
      </p:grpSpPr>
      <p:sp>
        <p:nvSpPr>
          <p:cNvPr id="2" name="Text 0"/>
          <p:cNvSpPr/>
          <p:nvPr>
            <p:ph type="title"/>
          </p:nvPr>
        </p:nvSpPr>
        <p:spPr>
          <a:xfrm>
            <a:off x="812800" y="1645921"/>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4213D"/>
                </a:solidFill>
                <a:latin typeface="Inter" pitchFamily="34" charset="0"/>
                <a:ea typeface="Inter" pitchFamily="34" charset="-122"/>
                <a:cs typeface="Inter" pitchFamily="34" charset="-120"/>
              </a:rPr>
              <a:t>Thank you</a:t>
            </a:r>
            <a:endParaRPr lang="en-US" sz="4800" dirty="0"/>
          </a:p>
        </p:txBody>
      </p:sp>
      <p:sp>
        <p:nvSpPr>
          <p:cNvPr id="3" name="Text 1"/>
          <p:cNvSpPr/>
          <p:nvPr/>
        </p:nvSpPr>
        <p:spPr>
          <a:xfrm>
            <a:off x="812800" y="2590800"/>
            <a:ext cx="784860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4A5568"/>
                </a:solidFill>
                <a:latin typeface="Inter" pitchFamily="34" charset="0"/>
                <a:ea typeface="Inter" pitchFamily="34" charset="-122"/>
                <a:cs typeface="Inter" pitchFamily="34" charset="-120"/>
              </a:rPr>
              <a:t>Questions are welcome. The code, notebooks and dashboard are all open to explore.</a:t>
            </a:r>
            <a:endParaRPr lang="en-US" sz="2000" dirty="0"/>
          </a:p>
        </p:txBody>
      </p:sp>
      <p:sp>
        <p:nvSpPr>
          <p:cNvPr id="4" name="Shape 2"/>
          <p:cNvSpPr/>
          <p:nvPr/>
        </p:nvSpPr>
        <p:spPr>
          <a:xfrm>
            <a:off x="812800" y="3581400"/>
            <a:ext cx="8255000" cy="1630680"/>
          </a:xfrm>
          <a:prstGeom prst="roundRect">
            <a:avLst>
              <a:gd name="adj" fmla="val 9346"/>
            </a:avLst>
          </a:prstGeom>
          <a:solidFill>
            <a:srgbClr val="FFFFFF"/>
          </a:solidFill>
          <a:ln/>
        </p:spPr>
      </p:sp>
      <p:sp>
        <p:nvSpPr>
          <p:cNvPr id="5" name="Text 3"/>
          <p:cNvSpPr/>
          <p:nvPr/>
        </p:nvSpPr>
        <p:spPr>
          <a:xfrm>
            <a:off x="1117600" y="3860800"/>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78D6"/>
                </a:solidFill>
                <a:latin typeface="Inter" pitchFamily="34" charset="0"/>
                <a:ea typeface="Inter" pitchFamily="34" charset="-122"/>
                <a:cs typeface="Inter" pitchFamily="34" charset="-120"/>
              </a:rPr>
              <a:t>Live app</a:t>
            </a:r>
            <a:endParaRPr lang="en-US" sz="1200" dirty="0"/>
          </a:p>
        </p:txBody>
      </p:sp>
      <p:sp>
        <p:nvSpPr>
          <p:cNvPr id="6" name="Text 4"/>
          <p:cNvSpPr/>
          <p:nvPr/>
        </p:nvSpPr>
        <p:spPr>
          <a:xfrm>
            <a:off x="2540000" y="3835400"/>
            <a:ext cx="640969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nter" pitchFamily="34" charset="0"/>
                <a:ea typeface="Inter" pitchFamily="34" charset="-122"/>
                <a:cs typeface="Inter" pitchFamily="34" charset="-120"/>
              </a:rPr>
              <a:t>investment-recommendation-system-bnw27gg3puetznkcc3st2u.streamlit.app</a:t>
            </a:r>
            <a:endParaRPr lang="en-US" sz="1400" dirty="0"/>
          </a:p>
        </p:txBody>
      </p:sp>
      <p:sp>
        <p:nvSpPr>
          <p:cNvPr id="7" name="Text 5"/>
          <p:cNvSpPr/>
          <p:nvPr/>
        </p:nvSpPr>
        <p:spPr>
          <a:xfrm>
            <a:off x="1117600" y="4485642"/>
            <a:ext cx="1320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78D6"/>
                </a:solidFill>
                <a:latin typeface="Inter" pitchFamily="34" charset="0"/>
                <a:ea typeface="Inter" pitchFamily="34" charset="-122"/>
                <a:cs typeface="Inter" pitchFamily="34" charset="-120"/>
              </a:rPr>
              <a:t>GitHub</a:t>
            </a:r>
            <a:endParaRPr lang="en-US" sz="1200" dirty="0"/>
          </a:p>
        </p:txBody>
      </p:sp>
      <p:sp>
        <p:nvSpPr>
          <p:cNvPr id="8" name="Text 6"/>
          <p:cNvSpPr/>
          <p:nvPr/>
        </p:nvSpPr>
        <p:spPr>
          <a:xfrm>
            <a:off x="2540000" y="4460242"/>
            <a:ext cx="640969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nter" pitchFamily="34" charset="0"/>
                <a:ea typeface="Inter" pitchFamily="34" charset="-122"/>
                <a:cs typeface="Inter" pitchFamily="34" charset="-120"/>
              </a:rPr>
              <a:t>github.com/natashajenovavalluru007S/investment-recommendation-system</a:t>
            </a:r>
            <a:endParaRPr lang="en-US" sz="1400" dirty="0"/>
          </a:p>
        </p:txBody>
      </p:sp>
    </p:spTree>
  </p:cSld>
  <p:clrMapOvr>
    <a:masterClrMapping/>
  </p:clrMapOvr>
</p:sld>
</file>

<file path=ppt/theme/theme1.xml><?xml version="1.0" encoding="utf-8"?>
<a:theme xmlns:a="http://schemas.openxmlformats.org/drawingml/2006/main" name="Investment Recommendation System">
  <a:themeElements>
    <a:clrScheme name="Investment Recommendation System">
      <a:dk1>
        <a:srgbClr val="14213D"/>
      </a:dk1>
      <a:lt1>
        <a:srgbClr val="F5F6FA"/>
      </a:lt1>
      <a:dk2>
        <a:srgbClr val="4C566C"/>
      </a:dk2>
      <a:lt2>
        <a:srgbClr val="DFE1E7"/>
      </a:lt2>
      <a:accent1>
        <a:srgbClr val="2A78D6"/>
      </a:accent1>
      <a:accent2>
        <a:srgbClr val="D03B3B"/>
      </a:accent2>
      <a:accent3>
        <a:srgbClr val="6DA7EC"/>
      </a:accent3>
      <a:accent4>
        <a:srgbClr val="B7D3F6"/>
      </a:accent4>
      <a:accent5>
        <a:srgbClr val="9EC5F4"/>
      </a:accent5>
      <a:accent6>
        <a:srgbClr val="CDE2FB"/>
      </a:accent6>
      <a:hlink>
        <a:srgbClr val="0563C1"/>
      </a:hlink>
      <a:folHlink>
        <a:srgbClr val="954F72"/>
      </a:folHlink>
    </a:clrScheme>
    <a:fontScheme name="Investment Recommendation System">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Investment Recommendation System</dc:title>
  <dc:subject/>
  <dc:creator/>
  <cp:lastModifiedBy/>
  <cp:revision>1</cp:revision>
  <dcterms:created xsi:type="dcterms:W3CDTF">2026-10-17T16:00:52Z</dcterms:created>
  <dcterms:modified xsi:type="dcterms:W3CDTF">2026-10-17T16:00:52Z</dcterms:modified>
</cp:coreProperties>
</file>